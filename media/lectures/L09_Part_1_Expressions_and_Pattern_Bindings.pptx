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bookmarkIdSeed="21">
  <p:sldMasterIdLst>
    <p:sldMasterId id="2147483648" r:id="rId1"/>
    <p:sldMasterId id="2147483662" r:id="rId2"/>
  </p:sldMasterIdLst>
  <p:notesMasterIdLst>
    <p:notesMasterId r:id="rId38"/>
  </p:notesMasterIdLst>
  <p:sldIdLst>
    <p:sldId id="256" r:id="rId3"/>
    <p:sldId id="318" r:id="rId4"/>
    <p:sldId id="325" r:id="rId5"/>
    <p:sldId id="384" r:id="rId6"/>
    <p:sldId id="326" r:id="rId7"/>
    <p:sldId id="390" r:id="rId8"/>
    <p:sldId id="348" r:id="rId9"/>
    <p:sldId id="350" r:id="rId10"/>
    <p:sldId id="397" r:id="rId11"/>
    <p:sldId id="385" r:id="rId12"/>
    <p:sldId id="408" r:id="rId13"/>
    <p:sldId id="351" r:id="rId14"/>
    <p:sldId id="353" r:id="rId15"/>
    <p:sldId id="398" r:id="rId16"/>
    <p:sldId id="381" r:id="rId17"/>
    <p:sldId id="403" r:id="rId18"/>
    <p:sldId id="404" r:id="rId19"/>
    <p:sldId id="354" r:id="rId20"/>
    <p:sldId id="355" r:id="rId21"/>
    <p:sldId id="357" r:id="rId22"/>
    <p:sldId id="358" r:id="rId23"/>
    <p:sldId id="356" r:id="rId24"/>
    <p:sldId id="406" r:id="rId25"/>
    <p:sldId id="330" r:id="rId26"/>
    <p:sldId id="399" r:id="rId27"/>
    <p:sldId id="407" r:id="rId28"/>
    <p:sldId id="376" r:id="rId29"/>
    <p:sldId id="405" r:id="rId30"/>
    <p:sldId id="409" r:id="rId31"/>
    <p:sldId id="400" r:id="rId32"/>
    <p:sldId id="378" r:id="rId33"/>
    <p:sldId id="410" r:id="rId34"/>
    <p:sldId id="401" r:id="rId35"/>
    <p:sldId id="402" r:id="rId36"/>
    <p:sldId id="393" r:id="rId37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87" autoAdjust="0"/>
    <p:restoredTop sz="95220" autoAdjust="0"/>
  </p:normalViewPr>
  <p:slideViewPr>
    <p:cSldViewPr>
      <p:cViewPr varScale="1">
        <p:scale>
          <a:sx n="69" d="100"/>
          <a:sy n="69" d="100"/>
        </p:scale>
        <p:origin x="116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presProps" Target="pres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4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A6E982FC-A8D7-42A5-BC85-A3163F07F9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17099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E982FC-A8D7-42A5-BC85-A3163F07F9D5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323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E982FC-A8D7-42A5-BC85-A3163F07F9D5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1767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E982FC-A8D7-42A5-BC85-A3163F07F9D5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948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E982FC-A8D7-42A5-BC85-A3163F07F9D5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351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dirty="0">
                <a:latin typeface="Courier New" pitchFamily="49" charset="0"/>
                <a:cs typeface="Courier New" pitchFamily="49" charset="0"/>
              </a:rPr>
              <a:t>[4,</a:t>
            </a:r>
            <a:r>
              <a:rPr lang="en-US" sz="1200" b="1" dirty="0">
                <a:latin typeface="Courier New" pitchFamily="49" charset="0"/>
                <a:cs typeface="Courier New" pitchFamily="49" charset="0"/>
              </a:rPr>
              <a:t>true</a:t>
            </a:r>
            <a:r>
              <a:rPr lang="en-US" sz="1200" dirty="0">
                <a:latin typeface="Courier New" pitchFamily="49" charset="0"/>
                <a:cs typeface="Courier New" pitchFamily="49" charset="0"/>
              </a:rPr>
              <a:t>,”string”,9,4](2,...,4) will yield [true, “string”, 9]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E982FC-A8D7-42A5-BC85-A3163F07F9D5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4912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TMA3093 FM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Defining Data and Functionality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591BE8-D008-4E21-A0D8-7AE363387D3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z="1000"/>
            </a:lvl1pPr>
          </a:lstStyle>
          <a:p>
            <a:pPr>
              <a:defRPr/>
            </a:pPr>
            <a:r>
              <a:rPr lang="en-US" smtClean="0"/>
              <a:t>TMA3093 FM</a:t>
            </a: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/>
            </a:lvl1pPr>
          </a:lstStyle>
          <a:p>
            <a:pPr>
              <a:defRPr/>
            </a:pPr>
            <a:r>
              <a:rPr lang="en-US"/>
              <a:t>Defining Data and Functionality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pPr>
              <a:defRPr/>
            </a:pPr>
            <a:fld id="{6F797D14-C1D9-459E-B99C-12FC798145F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TMA3093 FM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Defining Data and Functionality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5BBD6C-0824-4E22-B92B-C592AE1E84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TMA3093 FM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Defining Data and Functionality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C039D6-2878-448E-9E05-1149183374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TMA3093 FM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Defining Data and Functionality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363AD8-0967-4C39-853F-DA42663ED4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76400"/>
            <a:ext cx="3810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810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TMA3093 FM</a:t>
            </a: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Defining Data and Functionality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1F7385-A5B3-4643-AAA3-BA9BE7317D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TMA3093 FM</a:t>
            </a: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Defining Data and Functionality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CCC5BE-DB9C-4004-94E4-99F1659978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TMA3093 FM</a:t>
            </a: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Defining Data and Functionality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1A8DBF-ECB1-4273-B8C2-FA2BBC6942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TMA3093 FM</a:t>
            </a: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Defining Data and Functionality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8FE867-98BB-4CB2-A05C-F545B7D7B4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TMA3093 FM</a:t>
            </a: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Defining Data and Functionality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3BAB49-AFB3-4E69-AD4F-419EC3A30C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TMA3093 FM</a:t>
            </a: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Defining Data and Functionality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3262F6-B0E7-4CE2-AEF5-843C0156E4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TMA3093 FM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Defining Data and Functionality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9D0B45-B525-4A83-9551-C0C4B979F2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152400"/>
            <a:ext cx="1943100" cy="5943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676900" cy="5943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TMA3093 FM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Defining Data and Functionality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8FC7CD-D4CD-4406-99C9-85C24B0745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TMA3093 FM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Defining Data and Functionality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E010AA-6C85-4BCF-847C-665BE14C74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TMA3093 FM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Defining Data and Functionality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B7E54D-781B-4F02-A1EF-1EEF7505275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TMA3093 FM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Defining Data and Functionality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156A22-0914-492F-BDF6-595AAB1493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TMA3093 FM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Defining Data and Functionality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F4FA46-582D-4EB5-B8A7-6DCCEE123B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TMA3093 FM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Defining Data and Functionality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6F1B4B-B856-4841-9E07-872373D99D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TMA3093 FM</a:t>
            </a: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Defining Data and Functionality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1E378D-66AB-44C2-AC30-DE6187F143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TMA3093 FM</a:t>
            </a: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Defining Data and Functionality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2615D-9332-4BEA-A314-7157B80BFD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TMA3093 FM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Defining Data and Functionality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EC83F9-8AB0-4E61-97D9-E9E25D9E6B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TMA3093 FM</a:t>
            </a: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Defining Data and Functionality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B906D8-4C4E-4F6B-8C78-929D21CBB8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TMA3093 FM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Defining Data and Functionality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540315-5C21-4FF0-A1B9-5C92092F4C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TMA3093 FM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Defining Data and Functionality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467403-4470-4766-ADA8-96D8CBC055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143000" y="76200"/>
            <a:ext cx="77724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47800"/>
            <a:ext cx="77724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400800"/>
            <a:ext cx="1905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latin typeface="+mn-lt"/>
              </a:defRPr>
            </a:lvl1pPr>
          </a:lstStyle>
          <a:p>
            <a:pPr>
              <a:defRPr/>
            </a:pPr>
            <a:r>
              <a:rPr lang="en-US" smtClean="0"/>
              <a:t>TMA3093 FM</a:t>
            </a: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latin typeface="Times New Roman" charset="0"/>
              </a:defRPr>
            </a:lvl1pPr>
          </a:lstStyle>
          <a:p>
            <a:pPr>
              <a:defRPr/>
            </a:pPr>
            <a:r>
              <a:rPr lang="en-US"/>
              <a:t>Defining Data and Functionality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</a:defRPr>
            </a:lvl1pPr>
          </a:lstStyle>
          <a:p>
            <a:pPr>
              <a:defRPr/>
            </a:pPr>
            <a:fld id="{B7748831-645D-4216-901B-FA2C2923A4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685800" y="1219200"/>
            <a:ext cx="8458200" cy="46038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folHlink">
                  <a:gamma/>
                  <a:tint val="14118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pic>
        <p:nvPicPr>
          <p:cNvPr id="1032" name="Picture 9" descr="\\Belian2\pubdata\IMAGES\UNIMAS\LOGO\UMSLOGO.GIF"/>
          <p:cNvPicPr>
            <a:picLocks noChangeAspect="1" noChangeArrowheads="1"/>
          </p:cNvPicPr>
          <p:nvPr/>
        </p:nvPicPr>
        <p:blipFill>
          <a:blip r:embed="rId15"/>
          <a:srcRect/>
          <a:stretch>
            <a:fillRect/>
          </a:stretch>
        </p:blipFill>
        <p:spPr bwMode="auto">
          <a:xfrm>
            <a:off x="0" y="76200"/>
            <a:ext cx="1143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73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22228B"/>
          </a:solidFill>
          <a:latin typeface="Arial" pitchFamily="34" charset="0"/>
          <a:ea typeface="+mj-ea"/>
          <a:cs typeface="Arial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22228B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22228B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22228B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22228B"/>
          </a:solidFill>
          <a:latin typeface="Arial" charset="0"/>
          <a:cs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Arial" pitchFamily="34" charset="0"/>
          <a:cs typeface="Arial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Arial" pitchFamily="34" charset="0"/>
          <a:cs typeface="Arial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itchFamily="34" charset="0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Arial" pitchFamily="34" charset="0"/>
          <a:cs typeface="Arial" pitchFamily="34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smtClean="0"/>
              <a:t>TMA3093 FM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Defining Data and Functionality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9E460EB-B0F4-4CDC-8555-A1212572A1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mailto:edwin@unimas.my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8229600" cy="1066800"/>
          </a:xfrm>
        </p:spPr>
        <p:txBody>
          <a:bodyPr/>
          <a:lstStyle/>
          <a:p>
            <a:r>
              <a:rPr lang="en-US" b="0" dirty="0" smtClean="0">
                <a:solidFill>
                  <a:srgbClr val="22228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TMA3093 </a:t>
            </a:r>
            <a:r>
              <a:rPr lang="en-US" b="0" dirty="0">
                <a:solidFill>
                  <a:srgbClr val="22228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Formal Methods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295400"/>
            <a:ext cx="7772400" cy="4876800"/>
          </a:xfrm>
        </p:spPr>
        <p:txBody>
          <a:bodyPr/>
          <a:lstStyle/>
          <a:p>
            <a:pPr marL="0" indent="0" algn="ctr">
              <a:buFontTx/>
              <a:buNone/>
              <a:defRPr/>
            </a:pPr>
            <a:endParaRPr lang="en-US" sz="2000" dirty="0">
              <a:latin typeface="Arial" charset="0"/>
              <a:cs typeface="Arial" charset="0"/>
            </a:endParaRPr>
          </a:p>
          <a:p>
            <a:pPr marL="0" indent="0" algn="ctr">
              <a:buFontTx/>
              <a:buNone/>
              <a:defRPr/>
            </a:pPr>
            <a:r>
              <a:rPr lang="en-US" sz="36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Expressions and Pattern Bindings</a:t>
            </a:r>
          </a:p>
          <a:p>
            <a:pPr marL="0" indent="0" algn="ctr">
              <a:buFontTx/>
              <a:buNone/>
              <a:defRPr/>
            </a:pPr>
            <a:r>
              <a:rPr lang="en-US" sz="36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cs typeface="Arial" charset="0"/>
              </a:rPr>
              <a:t>(Part 1)</a:t>
            </a:r>
          </a:p>
          <a:p>
            <a:pPr marL="0" indent="0" algn="ctr">
              <a:buFontTx/>
              <a:buNone/>
              <a:defRPr/>
            </a:pPr>
            <a:endParaRPr lang="en-US" sz="2000" dirty="0">
              <a:latin typeface="Arial" charset="0"/>
              <a:cs typeface="Arial" charset="0"/>
            </a:endParaRPr>
          </a:p>
          <a:p>
            <a:pPr marL="0" indent="0" algn="ctr">
              <a:buFontTx/>
              <a:buNone/>
              <a:defRPr/>
            </a:pPr>
            <a:endParaRPr lang="en-US" sz="2000" dirty="0">
              <a:latin typeface="Arial" charset="0"/>
              <a:cs typeface="Arial" charset="0"/>
            </a:endParaRPr>
          </a:p>
          <a:p>
            <a:pPr marL="0" indent="0">
              <a:buFontTx/>
              <a:buNone/>
              <a:defRPr/>
            </a:pPr>
            <a:r>
              <a:rPr lang="en-US" sz="2000" dirty="0">
                <a:latin typeface="Arial" charset="0"/>
                <a:cs typeface="Arial" charset="0"/>
              </a:rPr>
              <a:t>Resources</a:t>
            </a:r>
          </a:p>
          <a:p>
            <a:pPr marL="0" indent="0">
              <a:buNone/>
              <a:defRPr/>
            </a:pPr>
            <a:r>
              <a:rPr lang="en-GB" sz="1200" dirty="0"/>
              <a:t>1. P.G. Larsen, Lecture Note, </a:t>
            </a:r>
            <a:r>
              <a:rPr lang="en-GB" sz="1200" i="1" dirty="0"/>
              <a:t>Defining Data and Functionality</a:t>
            </a:r>
            <a:r>
              <a:rPr lang="en-GB" sz="1200" dirty="0"/>
              <a:t>, </a:t>
            </a:r>
            <a:r>
              <a:rPr lang="en-GB" sz="1200" dirty="0" err="1"/>
              <a:t>iha.dk</a:t>
            </a:r>
            <a:r>
              <a:rPr lang="en-GB" sz="1200" dirty="0"/>
              <a:t>.</a:t>
            </a:r>
          </a:p>
          <a:p>
            <a:pPr marL="0" indent="0">
              <a:buNone/>
              <a:defRPr/>
            </a:pPr>
            <a:r>
              <a:rPr lang="en-GB" sz="1200" dirty="0"/>
              <a:t>2. John Fitzgerald, et al., </a:t>
            </a:r>
            <a:r>
              <a:rPr lang="en-GB" sz="1200" i="1" dirty="0"/>
              <a:t>Validate Designs for OO Systems</a:t>
            </a:r>
            <a:r>
              <a:rPr lang="en-GB" sz="1200" dirty="0"/>
              <a:t>, Springer, 2005.</a:t>
            </a:r>
          </a:p>
          <a:p>
            <a:pPr marL="0" indent="0">
              <a:buNone/>
              <a:defRPr/>
            </a:pPr>
            <a:r>
              <a:rPr lang="en-GB" sz="1200" dirty="0"/>
              <a:t>3. CSK Corp, </a:t>
            </a:r>
            <a:r>
              <a:rPr lang="en-GB" sz="1200" i="1" dirty="0" err="1"/>
              <a:t>VDMTools</a:t>
            </a:r>
            <a:r>
              <a:rPr lang="en-GB" sz="1200" i="1" dirty="0"/>
              <a:t>: The VDM++ Language</a:t>
            </a:r>
            <a:r>
              <a:rPr lang="en-GB" sz="1200" dirty="0"/>
              <a:t>, Ver6.8.1, 2005</a:t>
            </a:r>
          </a:p>
          <a:p>
            <a:pPr marL="0" indent="0">
              <a:buNone/>
              <a:defRPr/>
            </a:pPr>
            <a:endParaRPr lang="en-GB" sz="1200" dirty="0"/>
          </a:p>
          <a:p>
            <a:pPr marL="0" indent="0">
              <a:buNone/>
              <a:defRPr/>
            </a:pPr>
            <a:endParaRPr lang="en-GB" sz="1200" dirty="0"/>
          </a:p>
          <a:p>
            <a:pPr marL="0" indent="0">
              <a:buNone/>
              <a:defRPr/>
            </a:pPr>
            <a:endParaRPr lang="en-GB" sz="1200" dirty="0"/>
          </a:p>
          <a:p>
            <a:pPr marL="0" indent="0" algn="r">
              <a:buFontTx/>
              <a:buNone/>
              <a:defRPr/>
            </a:pPr>
            <a:endParaRPr lang="en-US" sz="1400" dirty="0">
              <a:latin typeface="Arial" charset="0"/>
              <a:cs typeface="Arial" charset="0"/>
            </a:endParaRPr>
          </a:p>
          <a:p>
            <a:pPr marL="0" indent="0" algn="r">
              <a:buFontTx/>
              <a:buNone/>
              <a:defRPr/>
            </a:pPr>
            <a:endParaRPr lang="en-US" sz="1200" dirty="0">
              <a:solidFill>
                <a:schemeClr val="accent4"/>
              </a:solidFill>
              <a:latin typeface="Arial" charset="0"/>
              <a:cs typeface="Arial" charset="0"/>
            </a:endParaRPr>
          </a:p>
          <a:p>
            <a:pPr marL="0" indent="0" algn="r">
              <a:buFontTx/>
              <a:buNone/>
              <a:defRPr/>
            </a:pPr>
            <a:r>
              <a:rPr lang="en-US" sz="1200" dirty="0">
                <a:solidFill>
                  <a:schemeClr val="accent4"/>
                </a:solidFill>
                <a:latin typeface="Arial" charset="0"/>
                <a:cs typeface="Arial" charset="0"/>
              </a:rPr>
              <a:t>Assoc Prof Dr Edwin </a:t>
            </a:r>
            <a:r>
              <a:rPr lang="en-US" sz="1200" dirty="0" err="1">
                <a:solidFill>
                  <a:schemeClr val="accent4"/>
                </a:solidFill>
                <a:latin typeface="Arial" charset="0"/>
                <a:cs typeface="Arial" charset="0"/>
              </a:rPr>
              <a:t>Mit</a:t>
            </a:r>
            <a:endParaRPr lang="en-US" sz="1200" dirty="0">
              <a:solidFill>
                <a:schemeClr val="accent4"/>
              </a:solidFill>
              <a:latin typeface="Arial" charset="0"/>
              <a:cs typeface="Arial" charset="0"/>
            </a:endParaRPr>
          </a:p>
          <a:p>
            <a:pPr marL="0" indent="0" algn="r">
              <a:buFontTx/>
              <a:buNone/>
              <a:defRPr/>
            </a:pPr>
            <a:r>
              <a:rPr lang="en-US" sz="1200" dirty="0">
                <a:solidFill>
                  <a:schemeClr val="bg2">
                    <a:lumMod val="75000"/>
                  </a:schemeClr>
                </a:solidFill>
                <a:latin typeface="Arial" charset="0"/>
                <a:cs typeface="Arial" charset="0"/>
              </a:rPr>
              <a:t>Dept of Computing and Software Engineering</a:t>
            </a:r>
          </a:p>
          <a:p>
            <a:pPr marL="0" indent="0" algn="r">
              <a:buFontTx/>
              <a:buNone/>
              <a:defRPr/>
            </a:pPr>
            <a:r>
              <a:rPr lang="en-US" sz="1200" dirty="0">
                <a:solidFill>
                  <a:schemeClr val="bg2">
                    <a:lumMod val="75000"/>
                  </a:schemeClr>
                </a:solidFill>
                <a:latin typeface="Arial" charset="0"/>
                <a:cs typeface="Arial" charset="0"/>
              </a:rPr>
              <a:t>Faculty of Computer Sc. &amp; IT., UNIMAS</a:t>
            </a:r>
          </a:p>
          <a:p>
            <a:pPr marL="0" indent="0" algn="r">
              <a:buFontTx/>
              <a:buNone/>
              <a:defRPr/>
            </a:pPr>
            <a:r>
              <a:rPr lang="en-US" sz="1200" dirty="0">
                <a:solidFill>
                  <a:schemeClr val="bg2">
                    <a:lumMod val="75000"/>
                  </a:schemeClr>
                </a:solidFill>
                <a:latin typeface="Arial" charset="0"/>
                <a:cs typeface="Arial" charset="0"/>
              </a:rPr>
              <a:t>Tel : 082-58(3799)</a:t>
            </a:r>
          </a:p>
          <a:p>
            <a:pPr marL="0" indent="0" algn="r">
              <a:buFontTx/>
              <a:buNone/>
              <a:defRPr/>
            </a:pPr>
            <a:r>
              <a:rPr lang="en-US" sz="1200" i="1" u="sng" dirty="0">
                <a:solidFill>
                  <a:schemeClr val="accent2">
                    <a:lumMod val="75000"/>
                  </a:schemeClr>
                </a:solidFill>
                <a:latin typeface="Arial" charset="0"/>
                <a:cs typeface="Arial" charset="0"/>
              </a:rPr>
              <a:t>edwin@unimas.my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TMA3093 FM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2EFF49-888B-4A28-ABEF-ACBA68646D4D}" type="slidenum">
              <a:rPr lang="en-US"/>
              <a:pPr>
                <a:defRPr/>
              </a:pPr>
              <a:t>1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325"/>
    </mc:Choice>
    <mc:Fallback xmlns="">
      <p:transition spd="slow" advTm="18325"/>
    </mc:Fallback>
  </mc:AlternateContent>
  <p:timing>
    <p:tnLst>
      <p:par>
        <p:cTn id="1" dur="indefinite" restart="never" nodeType="tmRoot"/>
      </p:par>
    </p:tnLst>
  </p:timing>
  <p:extLst mod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TMA3093 FM</a:t>
            </a:r>
            <a:endParaRPr lang="da-DK" dirty="0"/>
          </a:p>
        </p:txBody>
      </p:sp>
      <p:sp>
        <p:nvSpPr>
          <p:cNvPr id="1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AC3AA3-8298-44A6-8A03-3729F33F7A2D}" type="slidenum">
              <a:rPr lang="da-DK"/>
              <a:pPr/>
              <a:t>2</a:t>
            </a:fld>
            <a:endParaRPr lang="da-DK"/>
          </a:p>
        </p:txBody>
      </p:sp>
      <p:sp>
        <p:nvSpPr>
          <p:cNvPr id="2017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2913"/>
            <a:ext cx="8229600" cy="1108187"/>
          </a:xfrm>
        </p:spPr>
        <p:txBody>
          <a:bodyPr lIns="82058" tIns="41029" rIns="82058" bIns="41029" anchor="ctr"/>
          <a:lstStyle/>
          <a:p>
            <a:r>
              <a:rPr 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VDM++ Class Outline</a:t>
            </a:r>
          </a:p>
        </p:txBody>
      </p:sp>
      <p:sp>
        <p:nvSpPr>
          <p:cNvPr id="201731" name="Text Box 3"/>
          <p:cNvSpPr txBox="1">
            <a:spLocks noChangeArrowheads="1"/>
          </p:cNvSpPr>
          <p:nvPr/>
        </p:nvSpPr>
        <p:spPr bwMode="auto">
          <a:xfrm>
            <a:off x="1536700" y="1308101"/>
            <a:ext cx="6388100" cy="531506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82058" tIns="41029" rIns="82058" bIns="41029">
            <a:spAutoFit/>
          </a:bodyPr>
          <a:lstStyle/>
          <a:p>
            <a:pPr defTabSz="820738" eaLnBrk="0" hangingPunct="0"/>
            <a:r>
              <a:rPr 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sz="20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&lt;class-name&gt;</a:t>
            </a:r>
            <a:endParaRPr lang="en-US" sz="2000" dirty="0">
              <a:effectLst>
                <a:outerShdw blurRad="38100" dist="38100" dir="2700000" algn="tl">
                  <a:srgbClr val="C0C0C0"/>
                </a:outerShdw>
              </a:effectLst>
              <a:latin typeface="Courier New" pitchFamily="49" charset="0"/>
              <a:cs typeface="Courier New" pitchFamily="49" charset="0"/>
            </a:endParaRPr>
          </a:p>
          <a:p>
            <a:pPr defTabSz="820738" eaLnBrk="0" hangingPunct="0"/>
            <a:endParaRPr lang="en-US" sz="2000" dirty="0">
              <a:effectLst>
                <a:outerShdw blurRad="38100" dist="38100" dir="2700000" algn="tl">
                  <a:srgbClr val="C0C0C0"/>
                </a:outerShdw>
              </a:effectLst>
              <a:latin typeface="Courier New" pitchFamily="49" charset="0"/>
              <a:cs typeface="Courier New" pitchFamily="49" charset="0"/>
            </a:endParaRPr>
          </a:p>
          <a:p>
            <a:pPr defTabSz="820738" eaLnBrk="0" hangingPunct="0"/>
            <a:endParaRPr lang="en-US" sz="2000" dirty="0">
              <a:effectLst>
                <a:outerShdw blurRad="38100" dist="38100" dir="2700000" algn="tl">
                  <a:srgbClr val="C0C0C0"/>
                </a:outerShdw>
              </a:effectLst>
              <a:latin typeface="Courier New" pitchFamily="49" charset="0"/>
              <a:cs typeface="Courier New" pitchFamily="49" charset="0"/>
            </a:endParaRPr>
          </a:p>
          <a:p>
            <a:pPr defTabSz="820738" eaLnBrk="0" hangingPunct="0"/>
            <a:endParaRPr lang="en-US" sz="2000" dirty="0">
              <a:effectLst>
                <a:outerShdw blurRad="38100" dist="38100" dir="2700000" algn="tl">
                  <a:srgbClr val="C0C0C0"/>
                </a:outerShdw>
              </a:effectLst>
              <a:latin typeface="Courier New" pitchFamily="49" charset="0"/>
              <a:cs typeface="Courier New" pitchFamily="49" charset="0"/>
            </a:endParaRPr>
          </a:p>
          <a:p>
            <a:pPr defTabSz="820738" eaLnBrk="0" hangingPunct="0"/>
            <a:endParaRPr lang="en-US" sz="2000" dirty="0">
              <a:effectLst>
                <a:outerShdw blurRad="38100" dist="38100" dir="2700000" algn="tl">
                  <a:srgbClr val="C0C0C0"/>
                </a:outerShdw>
              </a:effectLst>
              <a:latin typeface="Courier New" pitchFamily="49" charset="0"/>
              <a:cs typeface="Courier New" pitchFamily="49" charset="0"/>
            </a:endParaRPr>
          </a:p>
          <a:p>
            <a:pPr defTabSz="820738" eaLnBrk="0" hangingPunct="0"/>
            <a:endParaRPr lang="en-US" sz="2000" dirty="0">
              <a:effectLst>
                <a:outerShdw blurRad="38100" dist="38100" dir="2700000" algn="tl">
                  <a:srgbClr val="C0C0C0"/>
                </a:outerShdw>
              </a:effectLst>
              <a:latin typeface="Courier New" pitchFamily="49" charset="0"/>
              <a:cs typeface="Courier New" pitchFamily="49" charset="0"/>
            </a:endParaRPr>
          </a:p>
          <a:p>
            <a:pPr defTabSz="820738" eaLnBrk="0" hangingPunct="0"/>
            <a:endParaRPr lang="en-US" sz="2000" dirty="0">
              <a:effectLst>
                <a:outerShdw blurRad="38100" dist="38100" dir="2700000" algn="tl">
                  <a:srgbClr val="C0C0C0"/>
                </a:outerShdw>
              </a:effectLst>
              <a:latin typeface="Courier New" pitchFamily="49" charset="0"/>
              <a:cs typeface="Courier New" pitchFamily="49" charset="0"/>
            </a:endParaRPr>
          </a:p>
          <a:p>
            <a:pPr defTabSz="820738" eaLnBrk="0" hangingPunct="0"/>
            <a:endParaRPr lang="en-US" sz="2000" dirty="0">
              <a:effectLst>
                <a:outerShdw blurRad="38100" dist="38100" dir="2700000" algn="tl">
                  <a:srgbClr val="C0C0C0"/>
                </a:outerShdw>
              </a:effectLst>
              <a:latin typeface="Courier New" pitchFamily="49" charset="0"/>
              <a:cs typeface="Courier New" pitchFamily="49" charset="0"/>
            </a:endParaRPr>
          </a:p>
          <a:p>
            <a:pPr defTabSz="820738" eaLnBrk="0" hangingPunct="0"/>
            <a:endParaRPr lang="en-US" sz="2000" dirty="0">
              <a:effectLst>
                <a:outerShdw blurRad="38100" dist="38100" dir="2700000" algn="tl">
                  <a:srgbClr val="C0C0C0"/>
                </a:outerShdw>
              </a:effectLst>
              <a:latin typeface="Courier New" pitchFamily="49" charset="0"/>
              <a:cs typeface="Courier New" pitchFamily="49" charset="0"/>
            </a:endParaRPr>
          </a:p>
          <a:p>
            <a:pPr defTabSz="820738" eaLnBrk="0" hangingPunct="0"/>
            <a:endParaRPr lang="en-US" sz="2000" dirty="0">
              <a:effectLst>
                <a:outerShdw blurRad="38100" dist="38100" dir="2700000" algn="tl">
                  <a:srgbClr val="C0C0C0"/>
                </a:outerShdw>
              </a:effectLst>
              <a:latin typeface="Courier New" pitchFamily="49" charset="0"/>
              <a:cs typeface="Courier New" pitchFamily="49" charset="0"/>
            </a:endParaRPr>
          </a:p>
          <a:p>
            <a:pPr defTabSz="820738" eaLnBrk="0" hangingPunct="0"/>
            <a:endParaRPr lang="en-US" sz="2000" dirty="0">
              <a:effectLst>
                <a:outerShdw blurRad="38100" dist="38100" dir="2700000" algn="tl">
                  <a:srgbClr val="C0C0C0"/>
                </a:outerShdw>
              </a:effectLst>
              <a:latin typeface="Courier New" pitchFamily="49" charset="0"/>
              <a:cs typeface="Courier New" pitchFamily="49" charset="0"/>
            </a:endParaRPr>
          </a:p>
          <a:p>
            <a:pPr defTabSz="820738" eaLnBrk="0" hangingPunct="0"/>
            <a:endParaRPr lang="en-US" sz="2000" dirty="0">
              <a:effectLst>
                <a:outerShdw blurRad="38100" dist="38100" dir="2700000" algn="tl">
                  <a:srgbClr val="C0C0C0"/>
                </a:outerShdw>
              </a:effectLst>
              <a:latin typeface="Courier New" pitchFamily="49" charset="0"/>
              <a:cs typeface="Courier New" pitchFamily="49" charset="0"/>
            </a:endParaRPr>
          </a:p>
          <a:p>
            <a:pPr defTabSz="820738" eaLnBrk="0" hangingPunct="0"/>
            <a:endParaRPr lang="en-US" sz="2000" dirty="0">
              <a:effectLst>
                <a:outerShdw blurRad="38100" dist="38100" dir="2700000" algn="tl">
                  <a:srgbClr val="C0C0C0"/>
                </a:outerShdw>
              </a:effectLst>
              <a:latin typeface="Courier New" pitchFamily="49" charset="0"/>
              <a:cs typeface="Courier New" pitchFamily="49" charset="0"/>
            </a:endParaRPr>
          </a:p>
          <a:p>
            <a:pPr defTabSz="820738" eaLnBrk="0" hangingPunct="0"/>
            <a:endParaRPr lang="en-US" sz="2000" dirty="0">
              <a:effectLst>
                <a:outerShdw blurRad="38100" dist="38100" dir="2700000" algn="tl">
                  <a:srgbClr val="C0C0C0"/>
                </a:outerShdw>
              </a:effectLst>
              <a:latin typeface="Courier New" pitchFamily="49" charset="0"/>
              <a:cs typeface="Courier New" pitchFamily="49" charset="0"/>
            </a:endParaRPr>
          </a:p>
          <a:p>
            <a:pPr defTabSz="820738" eaLnBrk="0" hangingPunct="0"/>
            <a:endParaRPr lang="en-US" sz="2000" dirty="0">
              <a:effectLst>
                <a:outerShdw blurRad="38100" dist="38100" dir="2700000" algn="tl">
                  <a:srgbClr val="C0C0C0"/>
                </a:outerShdw>
              </a:effectLst>
              <a:latin typeface="Courier New" pitchFamily="49" charset="0"/>
              <a:cs typeface="Courier New" pitchFamily="49" charset="0"/>
            </a:endParaRPr>
          </a:p>
          <a:p>
            <a:pPr defTabSz="820738" eaLnBrk="0" hangingPunct="0"/>
            <a:endParaRPr lang="en-US" sz="2000" dirty="0">
              <a:effectLst>
                <a:outerShdw blurRad="38100" dist="38100" dir="2700000" algn="tl">
                  <a:srgbClr val="C0C0C0"/>
                </a:outerShdw>
              </a:effectLst>
              <a:latin typeface="Courier New" pitchFamily="49" charset="0"/>
              <a:cs typeface="Courier New" pitchFamily="49" charset="0"/>
            </a:endParaRPr>
          </a:p>
          <a:p>
            <a:pPr defTabSz="820738" eaLnBrk="0" hangingPunct="0"/>
            <a:r>
              <a:rPr 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end </a:t>
            </a:r>
            <a:r>
              <a:rPr lang="en-US" sz="2000" i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&lt;class-name&gt;</a:t>
            </a:r>
            <a:endParaRPr lang="en-US" sz="2000" dirty="0">
              <a:effectLst>
                <a:outerShdw blurRad="38100" dist="38100" dir="2700000" algn="tl">
                  <a:srgbClr val="C0C0C0"/>
                </a:outerShdw>
              </a:effectLst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01732" name="Text Box 4"/>
          <p:cNvSpPr txBox="1">
            <a:spLocks noChangeArrowheads="1"/>
          </p:cNvSpPr>
          <p:nvPr/>
        </p:nvSpPr>
        <p:spPr bwMode="auto">
          <a:xfrm>
            <a:off x="1828800" y="1700213"/>
            <a:ext cx="2771775" cy="6683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82058" tIns="41029" rIns="82058" bIns="41029">
            <a:spAutoFit/>
          </a:bodyPr>
          <a:lstStyle/>
          <a:p>
            <a:pPr defTabSz="820738"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instance variables</a:t>
            </a:r>
          </a:p>
          <a:p>
            <a:pPr defTabSz="820738"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  ...</a:t>
            </a:r>
          </a:p>
        </p:txBody>
      </p:sp>
      <p:sp>
        <p:nvSpPr>
          <p:cNvPr id="201733" name="Text Box 5"/>
          <p:cNvSpPr txBox="1">
            <a:spLocks noChangeArrowheads="1"/>
          </p:cNvSpPr>
          <p:nvPr/>
        </p:nvSpPr>
        <p:spPr bwMode="auto">
          <a:xfrm>
            <a:off x="1828800" y="2439988"/>
            <a:ext cx="2771775" cy="17399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82058" tIns="41029" rIns="82058" bIns="41029">
            <a:spAutoFit/>
          </a:bodyPr>
          <a:lstStyle/>
          <a:p>
            <a:pPr defTabSz="820738"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types</a:t>
            </a:r>
          </a:p>
          <a:p>
            <a:pPr defTabSz="820738"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values</a:t>
            </a:r>
          </a:p>
          <a:p>
            <a:pPr defTabSz="820738"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functions</a:t>
            </a:r>
          </a:p>
          <a:p>
            <a:pPr defTabSz="820738"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operations</a:t>
            </a:r>
          </a:p>
          <a:p>
            <a:pPr defTabSz="820738"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sz="180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  ...</a:t>
            </a:r>
          </a:p>
        </p:txBody>
      </p:sp>
      <p:sp>
        <p:nvSpPr>
          <p:cNvPr id="201734" name="Text Box 6"/>
          <p:cNvSpPr txBox="1">
            <a:spLocks noChangeArrowheads="1"/>
          </p:cNvSpPr>
          <p:nvPr/>
        </p:nvSpPr>
        <p:spPr bwMode="auto">
          <a:xfrm>
            <a:off x="1828800" y="4305300"/>
            <a:ext cx="2771775" cy="6683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82058" tIns="41029" rIns="82058" bIns="41029">
            <a:spAutoFit/>
          </a:bodyPr>
          <a:lstStyle/>
          <a:p>
            <a:pPr defTabSz="820738"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sz="180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thread</a:t>
            </a:r>
          </a:p>
          <a:p>
            <a:pPr defTabSz="820738"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sz="180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  ...</a:t>
            </a:r>
          </a:p>
        </p:txBody>
      </p:sp>
      <p:sp>
        <p:nvSpPr>
          <p:cNvPr id="201735" name="Text Box 7"/>
          <p:cNvSpPr txBox="1">
            <a:spLocks noChangeArrowheads="1"/>
          </p:cNvSpPr>
          <p:nvPr/>
        </p:nvSpPr>
        <p:spPr bwMode="auto">
          <a:xfrm>
            <a:off x="1828800" y="5113338"/>
            <a:ext cx="2771775" cy="6683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82058" tIns="41029" rIns="82058" bIns="41029">
            <a:spAutoFit/>
          </a:bodyPr>
          <a:lstStyle/>
          <a:p>
            <a:pPr defTabSz="820738"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sz="180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sync</a:t>
            </a:r>
          </a:p>
          <a:p>
            <a:pPr defTabSz="820738" eaLnBrk="0" hangingPunct="0">
              <a:lnSpc>
                <a:spcPct val="80000"/>
              </a:lnSpc>
              <a:spcBef>
                <a:spcPct val="50000"/>
              </a:spcBef>
            </a:pPr>
            <a:r>
              <a:rPr lang="en-US" sz="180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  ...</a:t>
            </a:r>
          </a:p>
        </p:txBody>
      </p:sp>
      <p:sp>
        <p:nvSpPr>
          <p:cNvPr id="201736" name="AutoShape 8"/>
          <p:cNvSpPr>
            <a:spLocks/>
          </p:cNvSpPr>
          <p:nvPr/>
        </p:nvSpPr>
        <p:spPr bwMode="auto">
          <a:xfrm>
            <a:off x="4806950" y="1728788"/>
            <a:ext cx="69850" cy="627062"/>
          </a:xfrm>
          <a:prstGeom prst="rightBrace">
            <a:avLst>
              <a:gd name="adj1" fmla="val 74811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1737" name="AutoShape 9"/>
          <p:cNvSpPr>
            <a:spLocks/>
          </p:cNvSpPr>
          <p:nvPr/>
        </p:nvSpPr>
        <p:spPr bwMode="auto">
          <a:xfrm>
            <a:off x="4806950" y="2457450"/>
            <a:ext cx="69850" cy="1679575"/>
          </a:xfrm>
          <a:prstGeom prst="rightBrace">
            <a:avLst>
              <a:gd name="adj1" fmla="val 200379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1738" name="AutoShape 10"/>
          <p:cNvSpPr>
            <a:spLocks/>
          </p:cNvSpPr>
          <p:nvPr/>
        </p:nvSpPr>
        <p:spPr bwMode="auto">
          <a:xfrm>
            <a:off x="4808538" y="4316413"/>
            <a:ext cx="68262" cy="650875"/>
          </a:xfrm>
          <a:prstGeom prst="rightBrace">
            <a:avLst>
              <a:gd name="adj1" fmla="val 79458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1739" name="AutoShape 11"/>
          <p:cNvSpPr>
            <a:spLocks/>
          </p:cNvSpPr>
          <p:nvPr/>
        </p:nvSpPr>
        <p:spPr bwMode="auto">
          <a:xfrm>
            <a:off x="4806950" y="5124450"/>
            <a:ext cx="69850" cy="660400"/>
          </a:xfrm>
          <a:prstGeom prst="rightBrace">
            <a:avLst>
              <a:gd name="adj1" fmla="val 78788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1740" name="Text Box 12"/>
          <p:cNvSpPr txBox="1">
            <a:spLocks noChangeArrowheads="1"/>
          </p:cNvSpPr>
          <p:nvPr/>
        </p:nvSpPr>
        <p:spPr bwMode="auto">
          <a:xfrm>
            <a:off x="5027613" y="1863725"/>
            <a:ext cx="2159000" cy="357188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 wrap="none" lIns="82058" tIns="41029" rIns="82058" bIns="41029" anchor="ctr">
            <a:spAutoFit/>
          </a:bodyPr>
          <a:lstStyle/>
          <a:p>
            <a:pPr algn="ctr" defTabSz="820738" eaLnBrk="0" hangingPunct="0">
              <a:spcBef>
                <a:spcPct val="50000"/>
              </a:spcBef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Internal object state</a:t>
            </a:r>
            <a:endParaRPr lang="en-US" sz="220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01741" name="Text Box 13"/>
          <p:cNvSpPr txBox="1">
            <a:spLocks noChangeArrowheads="1"/>
          </p:cNvSpPr>
          <p:nvPr/>
        </p:nvSpPr>
        <p:spPr bwMode="auto">
          <a:xfrm>
            <a:off x="5021263" y="3130550"/>
            <a:ext cx="1231900" cy="357188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 wrap="none" lIns="82058" tIns="41029" rIns="82058" bIns="41029" anchor="ctr">
            <a:spAutoFit/>
          </a:bodyPr>
          <a:lstStyle/>
          <a:p>
            <a:pPr defTabSz="820738" eaLnBrk="0" hangingPunct="0">
              <a:spcBef>
                <a:spcPct val="50000"/>
              </a:spcBef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Definitions</a:t>
            </a:r>
            <a:endParaRPr lang="en-US" sz="220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01742" name="Text Box 14"/>
          <p:cNvSpPr txBox="1">
            <a:spLocks noChangeArrowheads="1"/>
          </p:cNvSpPr>
          <p:nvPr/>
        </p:nvSpPr>
        <p:spPr bwMode="auto">
          <a:xfrm>
            <a:off x="5018088" y="4475163"/>
            <a:ext cx="2120900" cy="357187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 wrap="none" lIns="82058" tIns="41029" rIns="82058" bIns="41029" anchor="ctr">
            <a:spAutoFit/>
          </a:bodyPr>
          <a:lstStyle/>
          <a:p>
            <a:pPr defTabSz="820738" eaLnBrk="0" hangingPunct="0">
              <a:spcBef>
                <a:spcPct val="50000"/>
              </a:spcBef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Dynamic behaviour</a:t>
            </a:r>
            <a:endParaRPr lang="en-US" sz="220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01743" name="Text Box 15"/>
          <p:cNvSpPr txBox="1">
            <a:spLocks noChangeArrowheads="1"/>
          </p:cNvSpPr>
          <p:nvPr/>
        </p:nvSpPr>
        <p:spPr bwMode="auto">
          <a:xfrm>
            <a:off x="5046663" y="5259388"/>
            <a:ext cx="2540000" cy="357187"/>
          </a:xfrm>
          <a:prstGeom prst="rect">
            <a:avLst/>
          </a:prstGeom>
          <a:noFill/>
          <a:ln w="57150">
            <a:noFill/>
            <a:miter lim="800000"/>
            <a:headEnd/>
            <a:tailEnd/>
          </a:ln>
          <a:effectLst/>
        </p:spPr>
        <p:txBody>
          <a:bodyPr wrap="none" lIns="82058" tIns="41029" rIns="82058" bIns="41029" anchor="ctr">
            <a:spAutoFit/>
          </a:bodyPr>
          <a:lstStyle/>
          <a:p>
            <a:pPr algn="ctr" defTabSz="820738" eaLnBrk="0" hangingPunct="0">
              <a:spcBef>
                <a:spcPct val="50000"/>
              </a:spcBef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Synchronization control</a:t>
            </a:r>
            <a:endParaRPr lang="en-US" sz="220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ransition advTm="16045">
    <p:wipe dir="r"/>
  </p:transition>
  <p:timing>
    <p:tnLst>
      <p:par>
        <p:cTn id="1" dur="indefinite" restart="never" nodeType="tmRoot"/>
      </p:par>
    </p:tnLst>
  </p:timing>
  <p:extLst mod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TMA3093 FM</a:t>
            </a:r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00141-9D00-470C-8297-E8786D19B283}" type="slidenum">
              <a:rPr lang="da-DK"/>
              <a:pPr/>
              <a:t>3</a:t>
            </a:fld>
            <a:endParaRPr lang="da-DK"/>
          </a:p>
        </p:txBody>
      </p:sp>
      <p:sp>
        <p:nvSpPr>
          <p:cNvPr id="202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a-DK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Agenda</a:t>
            </a:r>
            <a:endParaRPr lang="en-US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2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6100" y="1587500"/>
            <a:ext cx="7850188" cy="4622800"/>
          </a:xfrm>
        </p:spPr>
        <p:txBody>
          <a:bodyPr/>
          <a:lstStyle/>
          <a:p>
            <a:pPr lvl="1">
              <a:lnSpc>
                <a:spcPct val="120000"/>
              </a:lnSpc>
              <a:buClr>
                <a:schemeClr val="tx1"/>
              </a:buClr>
            </a:pPr>
            <a:r>
              <a:rPr lang="en-US" b="1" dirty="0"/>
              <a:t>Understand syntax &amp; semantic, and examples of the application of :</a:t>
            </a:r>
          </a:p>
          <a:p>
            <a:pPr lvl="2">
              <a:lnSpc>
                <a:spcPct val="120000"/>
              </a:lnSpc>
              <a:buClr>
                <a:schemeClr val="tx1"/>
              </a:buClr>
            </a:pPr>
            <a:r>
              <a:rPr lang="en-US" sz="2400" b="1" dirty="0"/>
              <a:t>Expressions</a:t>
            </a:r>
          </a:p>
          <a:p>
            <a:pPr lvl="2">
              <a:lnSpc>
                <a:spcPct val="120000"/>
              </a:lnSpc>
              <a:buClr>
                <a:schemeClr val="tx1"/>
              </a:buClr>
            </a:pPr>
            <a:r>
              <a:rPr lang="en-US" sz="2400" dirty="0">
                <a:solidFill>
                  <a:schemeClr val="bg2">
                    <a:lumMod val="75000"/>
                  </a:schemeClr>
                </a:solidFill>
              </a:rPr>
              <a:t>Pattern Binding</a:t>
            </a:r>
          </a:p>
          <a:p>
            <a:pPr marL="457200" lvl="1" indent="0">
              <a:lnSpc>
                <a:spcPct val="120000"/>
              </a:lnSpc>
              <a:buClr>
                <a:schemeClr val="tx1"/>
              </a:buClr>
              <a:buNone/>
            </a:pPr>
            <a:endParaRPr lang="en-US" sz="26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7" name="Right Arrow 6"/>
          <p:cNvSpPr/>
          <p:nvPr/>
        </p:nvSpPr>
        <p:spPr bwMode="auto">
          <a:xfrm rot="20050805">
            <a:off x="1051734" y="2765654"/>
            <a:ext cx="529360" cy="333068"/>
          </a:xfrm>
          <a:prstGeom prst="rightArrow">
            <a:avLst>
              <a:gd name="adj1" fmla="val 50000"/>
              <a:gd name="adj2" fmla="val 67963"/>
            </a:avLst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</p:spTree>
  </p:cSld>
  <p:clrMapOvr>
    <a:masterClrMapping/>
  </p:clrMapOvr>
  <p:transition advTm="17317"/>
  <p:timing>
    <p:tnLst>
      <p:par>
        <p:cTn id="1" dur="indefinite" restart="never" nodeType="tmRoot"/>
      </p:par>
    </p:tnLst>
  </p:timing>
  <p:extLst mod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295400"/>
            <a:ext cx="7772400" cy="4724400"/>
          </a:xfrm>
        </p:spPr>
        <p:txBody>
          <a:bodyPr/>
          <a:lstStyle/>
          <a:p>
            <a:r>
              <a:rPr lang="en-US" sz="2400" dirty="0"/>
              <a:t>Expressions are used to 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describe calculation </a:t>
            </a:r>
            <a:r>
              <a:rPr lang="en-US" sz="2400"/>
              <a:t>that </a:t>
            </a:r>
            <a:r>
              <a:rPr lang="en-US" sz="2400" smtClean="0"/>
              <a:t>never </a:t>
            </a:r>
            <a:r>
              <a:rPr lang="en-US" sz="2400" dirty="0"/>
              <a:t>affect the value of instance variable unless it contains a call to an operation.</a:t>
            </a:r>
          </a:p>
          <a:p>
            <a:endParaRPr lang="en-US" sz="2400" dirty="0"/>
          </a:p>
          <a:p>
            <a:r>
              <a:rPr lang="en-US" sz="2400" dirty="0"/>
              <a:t>Used in explicit function definition, within                        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pre-conditions, post-conditions </a:t>
            </a:r>
            <a:r>
              <a:rPr lang="en-US" sz="2400" dirty="0"/>
              <a:t>and 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invariants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r>
              <a:rPr lang="en-US" sz="2400" dirty="0"/>
              <a:t>The evaluation of expression results in a 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single value</a:t>
            </a:r>
            <a:r>
              <a:rPr lang="en-US" sz="2400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TMA3093 FM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797D14-C1D9-459E-B99C-12FC798145F5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285"/>
    </mc:Choice>
    <mc:Fallback xmlns="">
      <p:transition spd="slow" advTm="39285"/>
    </mc:Fallback>
  </mc:AlternateContent>
  <p:timing>
    <p:tnLst>
      <p:par>
        <p:cTn id="1" dur="indefinite" restart="never" nodeType="tmRoot"/>
      </p:par>
    </p:tnLst>
  </p:timing>
  <p:extLst mod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CBD87-0FE9-427E-98C5-826A696D3407}" type="slidenum">
              <a:rPr lang="da-DK"/>
              <a:pPr/>
              <a:t>5</a:t>
            </a:fld>
            <a:endParaRPr lang="da-DK" dirty="0"/>
          </a:p>
        </p:txBody>
      </p:sp>
      <p:sp>
        <p:nvSpPr>
          <p:cNvPr id="22118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82058" tIns="41029" rIns="82058" bIns="41029" anchor="ctr"/>
          <a:lstStyle/>
          <a:p>
            <a:r>
              <a:rPr 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Expressions </a:t>
            </a:r>
            <a:br>
              <a:rPr 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(Part 1)</a:t>
            </a:r>
          </a:p>
        </p:txBody>
      </p:sp>
      <p:sp>
        <p:nvSpPr>
          <p:cNvPr id="2211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877375"/>
            <a:ext cx="4114800" cy="3685225"/>
          </a:xfrm>
          <a:ln w="12700">
            <a:solidFill>
              <a:schemeClr val="tx1"/>
            </a:solidFill>
          </a:ln>
        </p:spPr>
        <p:txBody>
          <a:bodyPr lIns="82058" tIns="41029" rIns="82058" bIns="41029"/>
          <a:lstStyle/>
          <a:p>
            <a:pPr marL="0" indent="0"/>
            <a:r>
              <a:rPr lang="en-US" sz="2200" dirty="0">
                <a:latin typeface="Courier New" pitchFamily="49" charset="0"/>
                <a:cs typeface="Courier New" pitchFamily="49" charset="0"/>
              </a:rPr>
              <a:t>let</a:t>
            </a:r>
            <a:r>
              <a:rPr lang="en-US" sz="2200" dirty="0"/>
              <a:t> and </a:t>
            </a:r>
            <a:r>
              <a:rPr lang="en-US" sz="2200" dirty="0">
                <a:latin typeface="Courier New" pitchFamily="49" charset="0"/>
                <a:cs typeface="Courier New" pitchFamily="49" charset="0"/>
              </a:rPr>
              <a:t>let-be</a:t>
            </a:r>
            <a:r>
              <a:rPr lang="en-US" sz="2200" dirty="0"/>
              <a:t> expressions</a:t>
            </a:r>
          </a:p>
          <a:p>
            <a:pPr marL="0" indent="0"/>
            <a:r>
              <a:rPr lang="en-US" sz="2200" dirty="0">
                <a:latin typeface="Courier New" pitchFamily="49" charset="0"/>
                <a:cs typeface="Courier New" pitchFamily="49" charset="0"/>
              </a:rPr>
              <a:t>define</a:t>
            </a:r>
            <a:r>
              <a:rPr lang="en-US" sz="2200" dirty="0"/>
              <a:t> expressions</a:t>
            </a:r>
          </a:p>
          <a:p>
            <a:pPr marL="0" indent="0"/>
            <a:r>
              <a:rPr lang="en-US" sz="2200" dirty="0">
                <a:latin typeface="Courier New" pitchFamily="49" charset="0"/>
                <a:cs typeface="Courier New" pitchFamily="49" charset="0"/>
              </a:rPr>
              <a:t>if-then-else</a:t>
            </a:r>
            <a:r>
              <a:rPr lang="en-US" sz="2200" dirty="0"/>
              <a:t> expressions</a:t>
            </a:r>
          </a:p>
          <a:p>
            <a:pPr marL="0" indent="0"/>
            <a:r>
              <a:rPr lang="en-US" sz="2200" dirty="0">
                <a:latin typeface="Courier New" pitchFamily="49" charset="0"/>
                <a:cs typeface="Courier New" pitchFamily="49" charset="0"/>
              </a:rPr>
              <a:t>cases</a:t>
            </a:r>
            <a:r>
              <a:rPr lang="en-US" sz="2200" dirty="0"/>
              <a:t> expressions</a:t>
            </a:r>
          </a:p>
          <a:p>
            <a:pPr marL="0" indent="0"/>
            <a:r>
              <a:rPr lang="en-US" sz="2200" dirty="0"/>
              <a:t>Quantified expressions</a:t>
            </a:r>
          </a:p>
          <a:p>
            <a:pPr marL="0" indent="0"/>
            <a:r>
              <a:rPr lang="en-US" sz="2200" dirty="0"/>
              <a:t>Set expressions</a:t>
            </a:r>
          </a:p>
          <a:p>
            <a:pPr marL="0" indent="0"/>
            <a:r>
              <a:rPr lang="en-US" sz="2200" dirty="0"/>
              <a:t>Sequence expressions</a:t>
            </a:r>
          </a:p>
          <a:p>
            <a:pPr marL="0" indent="0"/>
            <a:r>
              <a:rPr lang="en-US" sz="2200" dirty="0"/>
              <a:t>Map expressions </a:t>
            </a:r>
          </a:p>
          <a:p>
            <a:pPr marL="0" indent="0"/>
            <a:r>
              <a:rPr lang="en-US" sz="2200" dirty="0"/>
              <a:t>Tuple expressions</a:t>
            </a:r>
          </a:p>
        </p:txBody>
      </p:sp>
      <p:sp>
        <p:nvSpPr>
          <p:cNvPr id="221188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932624" y="1877375"/>
            <a:ext cx="4186238" cy="3685225"/>
          </a:xfrm>
          <a:ln w="12700">
            <a:solidFill>
              <a:schemeClr val="tx1"/>
            </a:solidFill>
          </a:ln>
        </p:spPr>
        <p:txBody>
          <a:bodyPr lIns="82058" tIns="41029" rIns="82058" bIns="41029"/>
          <a:lstStyle/>
          <a:p>
            <a:pPr marL="0" indent="0"/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Record expressions </a:t>
            </a:r>
          </a:p>
          <a:p>
            <a:pPr marL="0" indent="0"/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ourier New" pitchFamily="49" charset="0"/>
                <a:cs typeface="Courier New" pitchFamily="49" charset="0"/>
              </a:rPr>
              <a:t>is</a:t>
            </a:r>
            <a:r>
              <a:rPr lang="en-US" sz="2000" dirty="0">
                <a:solidFill>
                  <a:schemeClr val="bg1">
                    <a:lumMod val="85000"/>
                  </a:schemeClr>
                </a:solidFill>
              </a:rPr>
              <a:t> expressions</a:t>
            </a:r>
          </a:p>
          <a:p>
            <a:pPr marL="0" indent="0">
              <a:buNone/>
            </a:pPr>
            <a:endParaRPr kumimoji="1" lang="en-GB" sz="2000" b="1" dirty="0">
              <a:solidFill>
                <a:schemeClr val="bg1">
                  <a:lumMod val="85000"/>
                </a:schemeClr>
              </a:solidFill>
            </a:endParaRPr>
          </a:p>
          <a:p>
            <a:pPr marL="0" indent="0"/>
            <a:r>
              <a:rPr lang="en-US" sz="2200" dirty="0">
                <a:solidFill>
                  <a:schemeClr val="bg1">
                    <a:lumMod val="85000"/>
                  </a:schemeClr>
                </a:solidFill>
                <a:latin typeface="Courier New" pitchFamily="49" charset="0"/>
                <a:cs typeface="Courier New" pitchFamily="49" charset="0"/>
              </a:rPr>
              <a:t>New</a:t>
            </a:r>
            <a:r>
              <a:rPr lang="en-US" sz="2200" dirty="0">
                <a:solidFill>
                  <a:schemeClr val="bg1">
                    <a:lumMod val="85000"/>
                  </a:schemeClr>
                </a:solidFill>
              </a:rPr>
              <a:t> and </a:t>
            </a:r>
            <a:r>
              <a:rPr lang="en-US" sz="2200" dirty="0">
                <a:solidFill>
                  <a:schemeClr val="bg1">
                    <a:lumMod val="85000"/>
                  </a:schemeClr>
                </a:solidFill>
                <a:latin typeface="Courier New" pitchFamily="49" charset="0"/>
                <a:cs typeface="Courier New" pitchFamily="49" charset="0"/>
              </a:rPr>
              <a:t>Self</a:t>
            </a:r>
            <a:r>
              <a:rPr lang="en-US" sz="2200" dirty="0">
                <a:solidFill>
                  <a:schemeClr val="bg1">
                    <a:lumMod val="85000"/>
                  </a:schemeClr>
                </a:solidFill>
              </a:rPr>
              <a:t> expressions</a:t>
            </a:r>
          </a:p>
          <a:p>
            <a:pPr marL="0" indent="0"/>
            <a:r>
              <a:rPr lang="en-US" sz="2200" dirty="0">
                <a:solidFill>
                  <a:schemeClr val="bg1">
                    <a:lumMod val="85000"/>
                  </a:schemeClr>
                </a:solidFill>
              </a:rPr>
              <a:t>Class membership expressions</a:t>
            </a:r>
          </a:p>
          <a:p>
            <a:pPr marL="0" indent="0"/>
            <a:r>
              <a:rPr lang="en-US" sz="2200" dirty="0">
                <a:solidFill>
                  <a:schemeClr val="bg1">
                    <a:lumMod val="85000"/>
                  </a:schemeClr>
                </a:solidFill>
              </a:rPr>
              <a:t>Object comparison expressions</a:t>
            </a:r>
          </a:p>
          <a:p>
            <a:pPr marL="0" indent="0"/>
            <a:r>
              <a:rPr lang="en-US" sz="2200" dirty="0">
                <a:solidFill>
                  <a:schemeClr val="bg1">
                    <a:lumMod val="85000"/>
                  </a:schemeClr>
                </a:solidFill>
              </a:rPr>
              <a:t>Object reference expressions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TMA3093 FM</a:t>
            </a:r>
            <a:endParaRPr lang="en-US"/>
          </a:p>
        </p:txBody>
      </p:sp>
    </p:spTree>
  </p:cSld>
  <p:clrMapOvr>
    <a:masterClrMapping/>
  </p:clrMapOvr>
  <p:transition advTm="12839">
    <p:wipe dir="r"/>
  </p:transition>
  <p:timing>
    <p:tnLst>
      <p:par>
        <p:cTn id="1" dur="indefinite" restart="never" nodeType="tmRoot"/>
      </p:par>
    </p:tnLst>
  </p:timing>
  <p:extLst mod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EA9FC-982B-48CF-8B38-1D8C6C04A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200"/>
            <a:ext cx="7772400" cy="1066800"/>
          </a:xfrm>
        </p:spPr>
        <p:txBody>
          <a:bodyPr/>
          <a:lstStyle/>
          <a:p>
            <a:r>
              <a:rPr 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Let</a:t>
            </a:r>
            <a:r>
              <a:rPr lang="en-US" dirty="0"/>
              <a:t> </a:t>
            </a:r>
            <a:r>
              <a:rPr 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</a:t>
            </a:r>
            <a:r>
              <a:rPr lang="en-US" dirty="0"/>
              <a:t> </a:t>
            </a:r>
            <a:r>
              <a:rPr 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dirty="0"/>
              <a:t> </a:t>
            </a:r>
            <a:r>
              <a:rPr 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DD530-3755-4724-8D22-5EE545000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Let</a:t>
            </a:r>
            <a:r>
              <a:rPr lang="en-US" sz="2400" dirty="0"/>
              <a:t> and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sz="2400" dirty="0"/>
              <a:t> expressions are used to 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improved the readability </a:t>
            </a:r>
            <a:r>
              <a:rPr lang="en-US" sz="2400" dirty="0"/>
              <a:t>of complex expression.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The value of entire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let</a:t>
            </a:r>
            <a:r>
              <a:rPr lang="en-US" sz="2400" dirty="0"/>
              <a:t> expression is the value of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expression2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sz="2400" dirty="0"/>
              <a:t> expression typically used in operations; and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expression1</a:t>
            </a:r>
            <a:r>
              <a:rPr lang="en-US" sz="2400" dirty="0"/>
              <a:t> may contain references to instance variables (i.e., can modify value of instance variable).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DE41D-2B8E-417B-B784-7F18F2443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TMA3093 FM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EE2AF6-D65F-45B7-AFE0-0286E0E46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797D14-C1D9-459E-B99C-12FC798145F5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933083-C7CF-499F-8691-B0D6DA517C77}"/>
              </a:ext>
            </a:extLst>
          </p:cNvPr>
          <p:cNvSpPr txBox="1"/>
          <p:nvPr/>
        </p:nvSpPr>
        <p:spPr>
          <a:xfrm>
            <a:off x="1371600" y="2286000"/>
            <a:ext cx="3541354" cy="8309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let</a:t>
            </a:r>
            <a:r>
              <a:rPr lang="en-US" dirty="0"/>
              <a:t> pattern = expression1 </a:t>
            </a:r>
            <a:endParaRPr lang="en-US" dirty="0" smtClean="0"/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dirty="0" smtClean="0"/>
              <a:t> expression2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D063A0-DB05-4A38-B8D8-1FA0BC89AD80}"/>
              </a:ext>
            </a:extLst>
          </p:cNvPr>
          <p:cNvSpPr txBox="1"/>
          <p:nvPr/>
        </p:nvSpPr>
        <p:spPr>
          <a:xfrm>
            <a:off x="1335446" y="4229100"/>
            <a:ext cx="3541354" cy="83099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dirty="0"/>
              <a:t> pattern = expression1 </a:t>
            </a:r>
            <a:endParaRPr lang="en-US" dirty="0" smtClean="0"/>
          </a:p>
          <a:p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US" dirty="0" smtClean="0"/>
              <a:t> expression2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128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06"/>
    </mc:Choice>
    <mc:Fallback xmlns="">
      <p:transition spd="slow" advTm="49006"/>
    </mc:Fallback>
  </mc:AlternateContent>
  <p:timing>
    <p:tnLst>
      <p:par>
        <p:cTn id="1" dur="indefinite" restart="never" nodeType="tmRoot"/>
      </p:par>
    </p:tnLst>
  </p:timing>
  <p:extLst mod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95250"/>
            <a:ext cx="7772400" cy="1066800"/>
          </a:xfrm>
        </p:spPr>
        <p:txBody>
          <a:bodyPr/>
          <a:lstStyle/>
          <a:p>
            <a:r>
              <a:rPr 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Let</a:t>
            </a:r>
            <a:r>
              <a:rPr lang="en-US" dirty="0"/>
              <a:t> </a:t>
            </a:r>
            <a:r>
              <a:rPr 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Expression: Syntax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TMA3093 FM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797D14-C1D9-459E-B99C-12FC798145F5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533400" y="1447800"/>
            <a:ext cx="8305800" cy="397031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expression = let expression </a:t>
            </a:r>
          </a:p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           | let be expression</a:t>
            </a:r>
          </a:p>
          <a:p>
            <a:endParaRPr lang="en-US" sz="18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let expression = </a:t>
            </a:r>
          </a:p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   ‘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let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’, local definition { ‘,’, local definition },     </a:t>
            </a:r>
          </a:p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   ‘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in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’, expression ;</a:t>
            </a:r>
          </a:p>
          <a:p>
            <a:endParaRPr lang="en-US" sz="18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let be expression = </a:t>
            </a:r>
          </a:p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   ‘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let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’, bind, [ ‘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be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’, ‘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</a:rPr>
              <a:t>st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’, expression ], </a:t>
            </a:r>
          </a:p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   ‘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in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’, expression ;</a:t>
            </a:r>
          </a:p>
          <a:p>
            <a:endParaRPr lang="en-US" sz="18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local definition = value definition </a:t>
            </a:r>
          </a:p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                 | function definition ;</a:t>
            </a:r>
          </a:p>
          <a:p>
            <a:endParaRPr lang="en-US" sz="1800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390"/>
    </mc:Choice>
    <mc:Fallback xmlns="">
      <p:transition spd="slow" advTm="73390"/>
    </mc:Fallback>
  </mc:AlternateContent>
  <p:timing>
    <p:tnLst>
      <p:par>
        <p:cTn id="1" dur="indefinite" restart="never" nodeType="tmRoot"/>
      </p:par>
    </p:tnLst>
  </p:timing>
  <p:extLst mod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569"/>
            <a:ext cx="7772400" cy="1470025"/>
          </a:xfrm>
        </p:spPr>
        <p:txBody>
          <a:bodyPr/>
          <a:lstStyle/>
          <a:p>
            <a:r>
              <a:rPr 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Let</a:t>
            </a:r>
            <a:r>
              <a:rPr lang="en-US" dirty="0"/>
              <a:t> </a:t>
            </a:r>
            <a:r>
              <a:rPr lang="en-US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Expression: Semantics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TMA3093 FM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797D14-C1D9-459E-B99C-12FC798145F5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219200" y="1169674"/>
            <a:ext cx="7391400" cy="55707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Let expressions are used 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to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improved the readability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of </a:t>
            </a:r>
            <a:r>
              <a:rPr lang="en-US" dirty="0">
                <a:latin typeface="Arial" pitchFamily="34" charset="0"/>
                <a:cs typeface="Arial" pitchFamily="34" charset="0"/>
              </a:rPr>
              <a:t>complex expression.</a:t>
            </a:r>
          </a:p>
          <a:p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A </a:t>
            </a:r>
            <a:r>
              <a:rPr lang="en-US" dirty="0">
                <a:latin typeface="Arial" pitchFamily="34" charset="0"/>
                <a:cs typeface="Arial" pitchFamily="34" charset="0"/>
              </a:rPr>
              <a:t>simple let expression has the form:</a:t>
            </a:r>
          </a:p>
          <a:p>
            <a:endParaRPr lang="en-US" dirty="0"/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where 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p1, ...,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p</a:t>
            </a:r>
            <a:r>
              <a:rPr lang="en-US" baseline="-25000" dirty="0" err="1" smtClean="0">
                <a:latin typeface="Courier New" pitchFamily="49" charset="0"/>
                <a:cs typeface="Courier New" pitchFamily="49" charset="0"/>
              </a:rPr>
              <a:t>N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>
                <a:latin typeface="Arial" pitchFamily="34" charset="0"/>
                <a:cs typeface="Arial" pitchFamily="34" charset="0"/>
              </a:rPr>
              <a:t>are patterns,                            </a:t>
            </a:r>
          </a:p>
          <a:p>
            <a:endParaRPr lang="en-US" sz="1000" dirty="0">
              <a:latin typeface="Arial" pitchFamily="34" charset="0"/>
              <a:cs typeface="Arial" pitchFamily="34" charset="0"/>
            </a:endParaRP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e1, ...,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e</a:t>
            </a:r>
            <a:r>
              <a:rPr lang="en-US" baseline="-25000" dirty="0" err="1" smtClean="0">
                <a:latin typeface="Courier New" pitchFamily="49" charset="0"/>
                <a:cs typeface="Courier New" pitchFamily="49" charset="0"/>
              </a:rPr>
              <a:t>N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dirty="0">
                <a:latin typeface="Arial" pitchFamily="34" charset="0"/>
                <a:cs typeface="Arial" pitchFamily="34" charset="0"/>
              </a:rPr>
              <a:t>are expressions                               which match the corresponding pattern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p1,…,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pn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,              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endParaRPr lang="en-US" sz="1000" dirty="0">
              <a:latin typeface="Arial" pitchFamily="34" charset="0"/>
              <a:cs typeface="Arial" pitchFamily="34" charset="0"/>
            </a:endParaRP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and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e</a:t>
            </a:r>
            <a:r>
              <a:rPr lang="en-US" dirty="0">
                <a:latin typeface="Arial" pitchFamily="34" charset="0"/>
                <a:cs typeface="Arial" pitchFamily="34" charset="0"/>
              </a:rPr>
              <a:t> is an expression, of any type, involving the pattern identifiers of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p1, ...,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p</a:t>
            </a:r>
            <a:r>
              <a:rPr lang="en-US" baseline="-25000" dirty="0" err="1" smtClean="0">
                <a:latin typeface="Courier New" pitchFamily="49" charset="0"/>
                <a:cs typeface="Courier New" pitchFamily="49" charset="0"/>
              </a:rPr>
              <a:t>N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524000" y="2715161"/>
            <a:ext cx="2819400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let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p1 = e1, </a:t>
            </a:r>
          </a:p>
          <a:p>
            <a:pPr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     ..., </a:t>
            </a:r>
          </a:p>
          <a:p>
            <a:pPr>
              <a:buNone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p</a:t>
            </a:r>
            <a:r>
              <a:rPr lang="en-US" sz="2000" baseline="-25000" dirty="0" err="1" smtClean="0">
                <a:latin typeface="Courier New" pitchFamily="49" charset="0"/>
                <a:cs typeface="Courier New" pitchFamily="49" charset="0"/>
              </a:rPr>
              <a:t>N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=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e</a:t>
            </a:r>
            <a:r>
              <a:rPr lang="en-US" sz="2000" baseline="-25000" dirty="0" err="1" smtClean="0">
                <a:latin typeface="Courier New" pitchFamily="49" charset="0"/>
                <a:cs typeface="Courier New" pitchFamily="49" charset="0"/>
              </a:rPr>
              <a:t>N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</a:t>
            </a:r>
            <a:endParaRPr lang="en-US" sz="2000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in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379"/>
    </mc:Choice>
    <mc:Fallback xmlns="">
      <p:transition spd="slow" advTm="45379"/>
    </mc:Fallback>
  </mc:AlternateContent>
  <p:timing>
    <p:tnLst>
      <p:par>
        <p:cTn id="1" dur="indefinite" restart="never" nodeType="tmRoot"/>
      </p:par>
    </p:tnLst>
  </p:timing>
  <p:extLst mod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36A42-C620-480E-A03A-E85C02C67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863" y="43926"/>
            <a:ext cx="7772400" cy="1066800"/>
          </a:xfrm>
        </p:spPr>
        <p:txBody>
          <a:bodyPr/>
          <a:lstStyle/>
          <a:p>
            <a:r>
              <a:rPr lang="da-DK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 </a:t>
            </a:r>
            <a:r>
              <a:rPr lang="da-DK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Let</a:t>
            </a:r>
            <a:r>
              <a:rPr lang="da-DK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Expressions</a:t>
            </a:r>
            <a:endParaRPr lang="en-MY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F26B35-19C5-417A-A745-2861EAFD7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TMA3093 FM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B85F1C-809E-4075-9C68-5249F3308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797D14-C1D9-459E-B99C-12FC798145F5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B65D9BD-6D61-4B73-B121-91417ADB48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863" y="1295400"/>
            <a:ext cx="8215312" cy="5022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571500" indent="-514350">
              <a:buFontTx/>
              <a:buNone/>
            </a:pPr>
            <a:r>
              <a:rPr lang="en-US" sz="2400" kern="0" dirty="0"/>
              <a:t>More simple form of let expression:</a:t>
            </a:r>
            <a:endParaRPr lang="en-US" sz="2400" b="1" kern="0" dirty="0"/>
          </a:p>
          <a:p>
            <a:pPr marL="571500" indent="-514350">
              <a:buFontTx/>
              <a:buNone/>
            </a:pPr>
            <a:endParaRPr lang="en-US" sz="2000" b="1" kern="0" dirty="0">
              <a:latin typeface="Courier New" pitchFamily="49" charset="0"/>
            </a:endParaRPr>
          </a:p>
          <a:p>
            <a:pPr marL="571500" indent="-514350">
              <a:buFontTx/>
              <a:buNone/>
            </a:pPr>
            <a:endParaRPr lang="en-US" sz="2000" b="1" kern="0" dirty="0">
              <a:latin typeface="Courier New" pitchFamily="49" charset="0"/>
            </a:endParaRPr>
          </a:p>
          <a:p>
            <a:pPr marL="571500" indent="-514350">
              <a:buFontTx/>
              <a:buNone/>
            </a:pPr>
            <a:endParaRPr lang="en-US" sz="2000" b="1" kern="0" dirty="0">
              <a:latin typeface="Courier New" pitchFamily="49" charset="0"/>
            </a:endParaRPr>
          </a:p>
          <a:p>
            <a:pPr marL="571500" indent="-514350">
              <a:buFontTx/>
              <a:buNone/>
            </a:pPr>
            <a:r>
              <a:rPr lang="en-US" sz="2000" kern="0" dirty="0"/>
              <a:t>Where </a:t>
            </a:r>
            <a:r>
              <a:rPr lang="en-US" sz="2000" kern="0" dirty="0">
                <a:latin typeface="Courier New" pitchFamily="49" charset="0"/>
                <a:cs typeface="Courier New" pitchFamily="49" charset="0"/>
              </a:rPr>
              <a:t>pattern=expression1</a:t>
            </a:r>
            <a:r>
              <a:rPr lang="en-US" sz="2000" kern="0" dirty="0"/>
              <a:t> may repeatedly occur,</a:t>
            </a:r>
          </a:p>
          <a:p>
            <a:pPr marL="571500" indent="-514350">
              <a:buFontTx/>
              <a:buNone/>
            </a:pPr>
            <a:r>
              <a:rPr lang="en-US" sz="2000" kern="0" dirty="0"/>
              <a:t>Separated by commas, and </a:t>
            </a:r>
            <a:r>
              <a:rPr lang="en-US" sz="2000" kern="0" dirty="0">
                <a:latin typeface="Courier New" pitchFamily="49" charset="0"/>
                <a:cs typeface="Courier New" pitchFamily="49" charset="0"/>
              </a:rPr>
              <a:t>pattern</a:t>
            </a:r>
            <a:r>
              <a:rPr lang="en-US" sz="2000" kern="0" dirty="0"/>
              <a:t> may associated with type.</a:t>
            </a:r>
          </a:p>
          <a:p>
            <a:pPr marL="571500" indent="-514350">
              <a:buFontTx/>
              <a:buNone/>
            </a:pPr>
            <a:endParaRPr lang="en-US" sz="1000" b="1" kern="0" dirty="0"/>
          </a:p>
          <a:p>
            <a:pPr marL="571500" indent="-514350">
              <a:buFontTx/>
              <a:buNone/>
            </a:pPr>
            <a:r>
              <a:rPr lang="en-US" sz="2400" b="1" kern="0" dirty="0"/>
              <a:t>Examples:</a:t>
            </a:r>
          </a:p>
          <a:p>
            <a:pPr marL="571500" indent="-514350">
              <a:buFontTx/>
              <a:buAutoNum type="romanLcParenBoth"/>
            </a:pPr>
            <a:r>
              <a:rPr lang="en-US" sz="2000" b="1" kern="0" dirty="0">
                <a:latin typeface="Courier New" pitchFamily="49" charset="0"/>
              </a:rPr>
              <a:t>let </a:t>
            </a:r>
            <a:r>
              <a:rPr lang="en-US" sz="2000" kern="0" dirty="0" smtClean="0">
                <a:latin typeface="Courier New" pitchFamily="49" charset="0"/>
              </a:rPr>
              <a:t>a </a:t>
            </a:r>
            <a:r>
              <a:rPr lang="en-US" sz="2000" kern="0" dirty="0">
                <a:latin typeface="Courier New" pitchFamily="49" charset="0"/>
              </a:rPr>
              <a:t>= 2, </a:t>
            </a:r>
          </a:p>
          <a:p>
            <a:pPr marL="57150" indent="0">
              <a:buFontTx/>
              <a:buNone/>
            </a:pPr>
            <a:r>
              <a:rPr lang="en-US" sz="2000" kern="0" dirty="0">
                <a:latin typeface="Courier New" pitchFamily="49" charset="0"/>
              </a:rPr>
              <a:t> </a:t>
            </a:r>
            <a:r>
              <a:rPr lang="en-US" sz="2000" kern="0" dirty="0" smtClean="0">
                <a:latin typeface="Courier New" pitchFamily="49" charset="0"/>
              </a:rPr>
              <a:t>      b</a:t>
            </a:r>
            <a:r>
              <a:rPr lang="en-US" sz="2000" b="1" kern="0" dirty="0">
                <a:latin typeface="Courier New" pitchFamily="49" charset="0"/>
              </a:rPr>
              <a:t>: </a:t>
            </a:r>
            <a:r>
              <a:rPr lang="en-US" sz="2000" b="1" kern="0" dirty="0" err="1">
                <a:latin typeface="Courier New" pitchFamily="49" charset="0"/>
              </a:rPr>
              <a:t>nat</a:t>
            </a:r>
            <a:r>
              <a:rPr lang="en-US" sz="2000" b="1" kern="0" dirty="0">
                <a:latin typeface="Courier New" pitchFamily="49" charset="0"/>
              </a:rPr>
              <a:t> </a:t>
            </a:r>
            <a:r>
              <a:rPr lang="en-US" sz="2000" kern="0" dirty="0">
                <a:latin typeface="Courier New" pitchFamily="49" charset="0"/>
              </a:rPr>
              <a:t>=</a:t>
            </a:r>
            <a:r>
              <a:rPr lang="en-US" sz="2000" b="1" kern="0" dirty="0">
                <a:latin typeface="Courier New" pitchFamily="49" charset="0"/>
              </a:rPr>
              <a:t> </a:t>
            </a:r>
            <a:r>
              <a:rPr lang="en-US" sz="2000" kern="0" dirty="0">
                <a:latin typeface="Courier New" pitchFamily="49" charset="0"/>
              </a:rPr>
              <a:t>a+7</a:t>
            </a:r>
            <a:r>
              <a:rPr lang="en-US" sz="2000" b="1" kern="0" dirty="0">
                <a:latin typeface="Courier New" pitchFamily="49" charset="0"/>
              </a:rPr>
              <a:t> </a:t>
            </a:r>
          </a:p>
          <a:p>
            <a:pPr marL="57150" indent="0">
              <a:buFontTx/>
              <a:buNone/>
            </a:pPr>
            <a:r>
              <a:rPr lang="en-US" sz="2000" b="1" kern="0" dirty="0">
                <a:latin typeface="Courier New" pitchFamily="49" charset="0"/>
              </a:rPr>
              <a:t>    in </a:t>
            </a:r>
            <a:r>
              <a:rPr lang="en-US" sz="2000" kern="0" dirty="0">
                <a:latin typeface="Courier New" pitchFamily="49" charset="0"/>
              </a:rPr>
              <a:t>a+b+15  (</a:t>
            </a:r>
            <a:r>
              <a:rPr lang="en-US" sz="2000" kern="0" dirty="0">
                <a:latin typeface="+mj-lt"/>
              </a:rPr>
              <a:t>-- yield 26)</a:t>
            </a:r>
          </a:p>
          <a:p>
            <a:pPr lvl="1">
              <a:buFontTx/>
              <a:buNone/>
            </a:pPr>
            <a:r>
              <a:rPr lang="en-US" sz="2000" kern="0" dirty="0">
                <a:latin typeface="Courier New" pitchFamily="49" charset="0"/>
              </a:rPr>
              <a:t> </a:t>
            </a:r>
          </a:p>
          <a:p>
            <a:pPr>
              <a:buFontTx/>
              <a:buNone/>
            </a:pPr>
            <a:r>
              <a:rPr lang="en-US" sz="2000" b="1" kern="0" dirty="0">
                <a:latin typeface="Courier New" pitchFamily="49" charset="0"/>
              </a:rPr>
              <a:t>(ii) let</a:t>
            </a:r>
            <a:r>
              <a:rPr lang="en-US" sz="2000" kern="0" dirty="0">
                <a:latin typeface="Courier New" pitchFamily="49" charset="0"/>
              </a:rPr>
              <a:t> d = b ** 2 - 4 * a * c</a:t>
            </a:r>
          </a:p>
          <a:p>
            <a:pPr lvl="1">
              <a:buFontTx/>
              <a:buNone/>
            </a:pPr>
            <a:r>
              <a:rPr lang="en-US" sz="2000" b="1" kern="0" dirty="0">
                <a:latin typeface="Courier New" pitchFamily="49" charset="0"/>
              </a:rPr>
              <a:t>  in</a:t>
            </a:r>
            <a:r>
              <a:rPr lang="en-US" sz="2000" kern="0" dirty="0">
                <a:latin typeface="Courier New" pitchFamily="49" charset="0"/>
              </a:rPr>
              <a:t> </a:t>
            </a:r>
            <a:r>
              <a:rPr lang="en-US" sz="2000" b="1" kern="0" dirty="0" err="1">
                <a:latin typeface="Courier New" pitchFamily="49" charset="0"/>
              </a:rPr>
              <a:t>mk</a:t>
            </a:r>
            <a:r>
              <a:rPr lang="en-US" sz="2000" kern="0" dirty="0">
                <a:latin typeface="Courier New" pitchFamily="49" charset="0"/>
              </a:rPr>
              <a:t>_((-b – sqrt(d))/2a,(-b + sqrt(d))/2a)</a:t>
            </a:r>
          </a:p>
          <a:p>
            <a:pPr lvl="1">
              <a:buFontTx/>
              <a:buNone/>
            </a:pPr>
            <a:endParaRPr lang="en-US" sz="2000" kern="0" dirty="0">
              <a:latin typeface="Courier New" pitchFamily="49" charset="0"/>
            </a:endParaRPr>
          </a:p>
          <a:p>
            <a:pPr>
              <a:buFontTx/>
              <a:buNone/>
            </a:pPr>
            <a:endParaRPr lang="en-US" kern="0" dirty="0">
              <a:effectLst>
                <a:outerShdw blurRad="38100" dist="38100" dir="2700000" algn="tl">
                  <a:srgbClr val="C0C0C0"/>
                </a:outerShdw>
              </a:effectLst>
              <a:latin typeface="Courier New" pitchFamily="49" charset="0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166FB1B9-B615-41B8-83A3-29362CFED3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5700" y="5029200"/>
            <a:ext cx="1182687" cy="57943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E170DB0-E277-4F13-90D2-68393757A365}"/>
              </a:ext>
            </a:extLst>
          </p:cNvPr>
          <p:cNvSpPr/>
          <p:nvPr/>
        </p:nvSpPr>
        <p:spPr>
          <a:xfrm>
            <a:off x="1447800" y="1828800"/>
            <a:ext cx="4953000" cy="7078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let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pattern = expression1 </a:t>
            </a:r>
            <a:endParaRPr lang="en-US" sz="2000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in 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expression2</a:t>
            </a:r>
            <a:endParaRPr lang="en-US" sz="20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9383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3491"/>
    </mc:Choice>
    <mc:Fallback xmlns="">
      <p:transition spd="slow" advTm="83491"/>
    </mc:Fallback>
  </mc:AlternateContent>
  <p:timing>
    <p:tnLst>
      <p:par>
        <p:cTn id="1" dur="indefinite" restart="never" nodeType="tmRoot"/>
      </p:par>
    </p:tnLst>
  </p:timing>
  <p:extLst mod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9562" y="1654252"/>
            <a:ext cx="4643438" cy="328997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95839"/>
            <a:ext cx="7772400" cy="1066800"/>
          </a:xfrm>
        </p:spPr>
        <p:txBody>
          <a:bodyPr/>
          <a:lstStyle/>
          <a:p>
            <a:r>
              <a:rPr lang="en-US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Example: Calculate Salary</a:t>
            </a:r>
            <a:endParaRPr lang="en-US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TMA3093 FM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797D14-C1D9-459E-B99C-12FC798145F5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07818" y="3196111"/>
            <a:ext cx="344978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ct val="20000"/>
              </a:spcBef>
            </a:pPr>
            <a:r>
              <a:rPr lang="en-US" kern="0" dirty="0" smtClean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The </a:t>
            </a:r>
            <a:r>
              <a:rPr lang="en-US" kern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value of entire </a:t>
            </a:r>
            <a:r>
              <a:rPr lang="en-US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let</a:t>
            </a:r>
            <a:r>
              <a:rPr lang="en-US" kern="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 expression is the value of </a:t>
            </a:r>
            <a:r>
              <a:rPr lang="en-US" kern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expression2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170DB0-E277-4F13-90D2-68393757A365}"/>
              </a:ext>
            </a:extLst>
          </p:cNvPr>
          <p:cNvSpPr/>
          <p:nvPr/>
        </p:nvSpPr>
        <p:spPr>
          <a:xfrm>
            <a:off x="228600" y="1654252"/>
            <a:ext cx="3352800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latin typeface="Courier New" pitchFamily="49" charset="0"/>
                <a:cs typeface="Courier New" pitchFamily="49" charset="0"/>
              </a:rPr>
              <a:t>let</a:t>
            </a:r>
            <a:r>
              <a:rPr lang="en-US" sz="1600" dirty="0">
                <a:latin typeface="Courier New" pitchFamily="49" charset="0"/>
                <a:cs typeface="Courier New" pitchFamily="49" charset="0"/>
              </a:rPr>
              <a:t> pattern = expression1 </a:t>
            </a:r>
            <a:endParaRPr lang="en-US" sz="1600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in </a:t>
            </a:r>
            <a:r>
              <a:rPr lang="en-US" sz="1600" dirty="0" smtClean="0">
                <a:latin typeface="Courier New" pitchFamily="49" charset="0"/>
                <a:cs typeface="Courier New" pitchFamily="49" charset="0"/>
              </a:rPr>
              <a:t>expression2</a:t>
            </a:r>
            <a:endParaRPr lang="en-US" sz="1600" dirty="0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10" name="Straight Arrow Connector 9"/>
          <p:cNvCxnSpPr/>
          <p:nvPr/>
        </p:nvCxnSpPr>
        <p:spPr bwMode="auto">
          <a:xfrm>
            <a:off x="2895600" y="4191000"/>
            <a:ext cx="1676400" cy="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accent2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4201"/>
    </mc:Choice>
    <mc:Fallback xmlns="">
      <p:transition spd="slow" advTm="154201"/>
    </mc:Fallback>
  </mc:AlternateContent>
  <p:timing>
    <p:tnLst>
      <p:par>
        <p:cTn id="1" dur="indefinite" restart="never" nodeType="tmRoot"/>
      </p:par>
    </p:tnLst>
  </p:timing>
  <p:extLst mod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: Search Location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TMA3093 FM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797D14-C1D9-459E-B99C-12FC798145F5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1343827"/>
            <a:ext cx="5181600" cy="5087389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0686289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 : Football Score</a:t>
            </a:r>
            <a:endParaRPr lang="en-US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TMA3093 FM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797D14-C1D9-459E-B99C-12FC798145F5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32004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They are also convenient for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decomposing complex structures </a:t>
            </a:r>
            <a:r>
              <a:rPr lang="en-US" dirty="0">
                <a:latin typeface="Arial" pitchFamily="34" charset="0"/>
                <a:cs typeface="Arial" pitchFamily="34" charset="0"/>
              </a:rPr>
              <a:t>into their components. 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For instance, using record type Score  we can test whether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one score is greater than another</a:t>
            </a:r>
            <a:r>
              <a:rPr lang="en-US" dirty="0">
                <a:latin typeface="Arial" pitchFamily="34" charset="0"/>
                <a:cs typeface="Arial" pitchFamily="34" charset="0"/>
              </a:rPr>
              <a:t>: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245251"/>
            <a:ext cx="3886200" cy="541410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9030"/>
    </mc:Choice>
    <mc:Fallback xmlns="">
      <p:transition spd="slow" advTm="139030"/>
    </mc:Fallback>
  </mc:AlternateContent>
  <p:timing>
    <p:tnLst>
      <p:par>
        <p:cTn id="1" dur="indefinite" restart="never" nodeType="tmRoot"/>
      </p:par>
    </p:tnLst>
  </p:timing>
  <p:extLst mod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let-be expression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TMA3093 FM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797D14-C1D9-459E-B99C-12FC798145F5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38200" y="1536174"/>
            <a:ext cx="8001000" cy="3724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A let-be-such-that expression has the form:</a:t>
            </a:r>
          </a:p>
          <a:p>
            <a:endParaRPr lang="en-US" dirty="0"/>
          </a:p>
          <a:p>
            <a:r>
              <a:rPr lang="en-US" sz="2000" dirty="0">
                <a:latin typeface="Courier New" pitchFamily="49" charset="0"/>
                <a:cs typeface="Courier New" pitchFamily="49" charset="0"/>
              </a:rPr>
              <a:t>             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let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b 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be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st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e1 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in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e2</a:t>
            </a:r>
          </a:p>
          <a:p>
            <a:endParaRPr lang="en-US" dirty="0"/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where 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b</a:t>
            </a:r>
            <a:r>
              <a:rPr lang="en-US" dirty="0">
                <a:latin typeface="Arial" pitchFamily="34" charset="0"/>
                <a:cs typeface="Arial" pitchFamily="34" charset="0"/>
              </a:rPr>
              <a:t> is a binding of a pattern to a set value (or a type), 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e1</a:t>
            </a:r>
            <a:r>
              <a:rPr lang="en-US" dirty="0">
                <a:latin typeface="Arial" pitchFamily="34" charset="0"/>
                <a:cs typeface="Arial" pitchFamily="34" charset="0"/>
              </a:rPr>
              <a:t> is a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boolean</a:t>
            </a:r>
            <a:r>
              <a:rPr lang="en-US" dirty="0">
                <a:latin typeface="Arial" pitchFamily="34" charset="0"/>
                <a:cs typeface="Arial" pitchFamily="34" charset="0"/>
              </a:rPr>
              <a:t> expression, and 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e2</a:t>
            </a:r>
            <a:r>
              <a:rPr lang="en-US" dirty="0">
                <a:latin typeface="Arial" pitchFamily="34" charset="0"/>
                <a:cs typeface="Arial" pitchFamily="34" charset="0"/>
              </a:rPr>
              <a:t> is an expression, of any type, involving the pattern identifiers of the pattern in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b</a:t>
            </a:r>
            <a:r>
              <a:rPr lang="en-US" dirty="0">
                <a:latin typeface="Arial" pitchFamily="34" charset="0"/>
                <a:cs typeface="Arial" pitchFamily="34" charset="0"/>
              </a:rPr>
              <a:t>. 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The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be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st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e1 </a:t>
            </a:r>
            <a:r>
              <a:rPr lang="en-US" dirty="0">
                <a:latin typeface="Arial" pitchFamily="34" charset="0"/>
                <a:cs typeface="Arial" pitchFamily="34" charset="0"/>
              </a:rPr>
              <a:t>part is optional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540"/>
    </mc:Choice>
    <mc:Fallback xmlns="">
      <p:transition spd="slow" advTm="45540"/>
    </mc:Fallback>
  </mc:AlternateContent>
  <p:timing>
    <p:tnLst>
      <p:par>
        <p:cTn id="1" dur="indefinite" restart="never" nodeType="tmRoot"/>
      </p:par>
    </p:tnLst>
  </p:timing>
  <p:extLst mod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15886-19CE-40B6-ADF0-382A231E5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Example </a:t>
            </a:r>
            <a:br>
              <a:rPr lang="da-DK" dirty="0"/>
            </a:br>
            <a:r>
              <a:rPr lang="da-DK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Let-be</a:t>
            </a:r>
            <a:r>
              <a:rPr lang="da-DK" dirty="0"/>
              <a:t> expressions</a:t>
            </a:r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91B5C3-8396-4533-9D30-89F68BD82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TMA3093 FM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F441C5-6037-4334-9D89-F75F4706E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797D14-C1D9-459E-B99C-12FC798145F5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A33E2C2-5B36-42A6-B832-08BD127CEF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1600200"/>
            <a:ext cx="8350250" cy="462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spcBef>
                <a:spcPct val="50000"/>
              </a:spcBef>
            </a:pPr>
            <a:r>
              <a:rPr lang="en-US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Let-be-such-that expressions are even more powerful. A free choice can be expressed,</a:t>
            </a:r>
          </a:p>
          <a:p>
            <a:pPr>
              <a:buFontTx/>
              <a:buNone/>
            </a:pPr>
            <a:r>
              <a:rPr lang="en-US" b="1" kern="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 </a:t>
            </a:r>
          </a:p>
          <a:p>
            <a:pPr>
              <a:buFontTx/>
              <a:buNone/>
            </a:pPr>
            <a:r>
              <a:rPr lang="en-US" b="1" kern="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  </a:t>
            </a:r>
            <a:r>
              <a:rPr lang="en-US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Examples:</a:t>
            </a:r>
          </a:p>
          <a:p>
            <a:pPr>
              <a:buFontTx/>
              <a:buNone/>
            </a:pPr>
            <a:r>
              <a:rPr lang="en-US" b="1" kern="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  </a:t>
            </a:r>
            <a:endParaRPr lang="en-US" sz="2000" kern="0" dirty="0">
              <a:effectLst>
                <a:outerShdw blurRad="38100" dist="38100" dir="2700000" algn="tl">
                  <a:srgbClr val="C0C0C0"/>
                </a:outerShdw>
              </a:effectLst>
              <a:latin typeface="Courier New" pitchFamily="49" charset="0"/>
            </a:endParaRPr>
          </a:p>
          <a:p>
            <a:pPr>
              <a:buFontTx/>
              <a:buNone/>
            </a:pPr>
            <a:r>
              <a:rPr lang="en-US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	</a:t>
            </a:r>
          </a:p>
          <a:p>
            <a:pPr>
              <a:buFontTx/>
              <a:buNone/>
            </a:pPr>
            <a:r>
              <a:rPr lang="en-US" kern="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	</a:t>
            </a:r>
            <a:r>
              <a:rPr lang="en-US" sz="2000" b="1" kern="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let</a:t>
            </a:r>
            <a:r>
              <a:rPr lang="en-US" sz="2000" kern="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 L </a:t>
            </a:r>
            <a:r>
              <a:rPr lang="en-US" sz="2000" b="1" kern="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in set</a:t>
            </a:r>
            <a:r>
              <a:rPr lang="en-US" sz="2000" kern="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 Permutations(list) </a:t>
            </a:r>
            <a:r>
              <a:rPr lang="en-US" sz="2000" b="1" kern="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be </a:t>
            </a:r>
            <a:r>
              <a:rPr lang="en-US" sz="2000" b="1" kern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st</a:t>
            </a:r>
            <a:r>
              <a:rPr lang="en-US" sz="2000" kern="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/>
            </a:r>
            <a:br>
              <a:rPr lang="en-US" sz="2000" kern="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</a:br>
            <a:r>
              <a:rPr lang="en-US" sz="2000" kern="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   </a:t>
            </a:r>
            <a:r>
              <a:rPr lang="en-US" sz="2000" b="1" kern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forall</a:t>
            </a:r>
            <a:r>
              <a:rPr lang="en-US" sz="2000" kern="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 </a:t>
            </a:r>
            <a:r>
              <a:rPr lang="en-US" sz="2000" kern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i,j</a:t>
            </a:r>
            <a:r>
              <a:rPr lang="en-US" sz="2000" kern="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 </a:t>
            </a:r>
            <a:r>
              <a:rPr lang="en-US" sz="2000" b="1" kern="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in set </a:t>
            </a:r>
            <a:r>
              <a:rPr lang="en-US" sz="2000" b="1" kern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inds</a:t>
            </a:r>
            <a:r>
              <a:rPr lang="en-US" sz="2000" kern="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 L </a:t>
            </a:r>
            <a:r>
              <a:rPr lang="en-US" sz="2000" b="1" kern="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&amp;</a:t>
            </a:r>
            <a:r>
              <a:rPr lang="en-US" sz="2000" kern="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 </a:t>
            </a:r>
            <a:r>
              <a:rPr lang="en-US" sz="2000" kern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i</a:t>
            </a:r>
            <a:r>
              <a:rPr lang="en-US" sz="2000" kern="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 &lt; j =&gt; L(</a:t>
            </a:r>
            <a:r>
              <a:rPr lang="en-US" sz="2000" kern="0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i</a:t>
            </a:r>
            <a:r>
              <a:rPr lang="en-US" sz="2000" kern="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) &lt;= L(j) </a:t>
            </a:r>
            <a:br>
              <a:rPr lang="en-US" sz="2000" kern="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</a:br>
            <a:r>
              <a:rPr lang="en-US" sz="2000" b="1" kern="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in </a:t>
            </a:r>
            <a:r>
              <a:rPr lang="en-US" sz="2000" kern="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</a:rPr>
              <a:t>L</a:t>
            </a:r>
            <a:endParaRPr lang="da-DK" sz="2000" kern="0" dirty="0">
              <a:effectLst>
                <a:outerShdw blurRad="38100" dist="38100" dir="2700000" algn="tl">
                  <a:srgbClr val="C0C0C0"/>
                </a:outerShdw>
              </a:effectLst>
              <a:latin typeface="Courier New" pitchFamily="49" charset="0"/>
            </a:endParaRPr>
          </a:p>
          <a:p>
            <a:endParaRPr lang="da-DK" kern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E4CAA7-8431-4F22-B80E-588DF310B1D5}"/>
              </a:ext>
            </a:extLst>
          </p:cNvPr>
          <p:cNvSpPr/>
          <p:nvPr/>
        </p:nvSpPr>
        <p:spPr>
          <a:xfrm>
            <a:off x="1143000" y="3619212"/>
            <a:ext cx="5334000" cy="5847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 b="1" dirty="0"/>
              <a:t>Permutation</a:t>
            </a:r>
            <a:r>
              <a:rPr lang="en-US" sz="1600" dirty="0"/>
              <a:t> relates to the act of </a:t>
            </a:r>
            <a:r>
              <a:rPr lang="en-US" sz="1600" b="1" dirty="0"/>
              <a:t>arranging</a:t>
            </a:r>
            <a:r>
              <a:rPr lang="en-US" sz="1600" dirty="0"/>
              <a:t> all the members of a set into some sequence or order</a:t>
            </a:r>
          </a:p>
        </p:txBody>
      </p:sp>
    </p:spTree>
    <p:extLst>
      <p:ext uri="{BB962C8B-B14F-4D97-AF65-F5344CB8AC3E}">
        <p14:creationId xmlns:p14="http://schemas.microsoft.com/office/powerpoint/2010/main" val="2960813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1026"/>
    </mc:Choice>
    <mc:Fallback xmlns="">
      <p:transition spd="slow" advTm="61026"/>
    </mc:Fallback>
  </mc:AlternateContent>
  <p:timing>
    <p:tnLst>
      <p:par>
        <p:cTn id="1" dur="indefinite" restart="never" nodeType="tmRoot"/>
      </p:par>
    </p:tnLst>
  </p:timing>
  <p:extLst mod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Define Expressions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This expression can only be used 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inside operations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It denotes the value of the expression 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e</a:t>
            </a:r>
            <a:r>
              <a:rPr lang="en-US" sz="2400" dirty="0"/>
              <a:t> in the context in which the patterns (or binds) 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pb</a:t>
            </a:r>
            <a:r>
              <a:rPr lang="en-US" sz="2400" baseline="-25000" dirty="0"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, ...,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pb</a:t>
            </a:r>
            <a:r>
              <a:rPr lang="en-US" sz="2400" baseline="-25000" dirty="0" err="1">
                <a:latin typeface="Courier New" pitchFamily="49" charset="0"/>
                <a:cs typeface="Courier New" pitchFamily="49" charset="0"/>
              </a:rPr>
              <a:t>n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dirty="0"/>
              <a:t>are matched against the corresponding expressions           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e</a:t>
            </a:r>
            <a:r>
              <a:rPr lang="en-US" sz="2400" baseline="-25000" dirty="0"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400" dirty="0">
                <a:latin typeface="Courier New" pitchFamily="49" charset="0"/>
                <a:cs typeface="Courier New" pitchFamily="49" charset="0"/>
              </a:rPr>
              <a:t>, ..., </a:t>
            </a:r>
            <a:r>
              <a:rPr lang="en-US" sz="2400" dirty="0" err="1">
                <a:latin typeface="Courier New" pitchFamily="49" charset="0"/>
                <a:cs typeface="Courier New" pitchFamily="49" charset="0"/>
              </a:rPr>
              <a:t>e</a:t>
            </a:r>
            <a:r>
              <a:rPr lang="en-US" sz="2400" baseline="-25000" dirty="0" err="1">
                <a:latin typeface="Courier New" pitchFamily="49" charset="0"/>
                <a:cs typeface="Courier New" pitchFamily="49" charset="0"/>
              </a:rPr>
              <a:t>n</a:t>
            </a:r>
            <a:endParaRPr lang="en-US" sz="24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TMA3093 FM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797D14-C1D9-459E-B99C-12FC798145F5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219200" y="1981200"/>
            <a:ext cx="6705600" cy="2000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Semantics: A define expression has the form:</a:t>
            </a:r>
          </a:p>
          <a:p>
            <a:pPr lvl="1"/>
            <a:r>
              <a:rPr lang="en-US" sz="2000" dirty="0">
                <a:latin typeface="Courier New" pitchFamily="49" charset="0"/>
                <a:cs typeface="Courier New" pitchFamily="49" charset="0"/>
              </a:rPr>
              <a:t>def pb</a:t>
            </a:r>
            <a:r>
              <a:rPr lang="en-US" sz="2000" baseline="-25000" dirty="0"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= e</a:t>
            </a:r>
            <a:r>
              <a:rPr lang="en-US" sz="2000" baseline="-25000" dirty="0"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lvl="1"/>
            <a:r>
              <a:rPr lang="en-US" sz="2000" dirty="0">
                <a:latin typeface="Courier New" pitchFamily="49" charset="0"/>
                <a:cs typeface="Courier New" pitchFamily="49" charset="0"/>
              </a:rPr>
              <a:t>     ...</a:t>
            </a:r>
          </a:p>
          <a:p>
            <a:pPr lvl="1"/>
            <a:r>
              <a:rPr lang="en-US" sz="20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pb</a:t>
            </a:r>
            <a:r>
              <a:rPr lang="en-US" sz="2000" baseline="-25000" dirty="0" err="1">
                <a:latin typeface="Courier New" pitchFamily="49" charset="0"/>
                <a:cs typeface="Courier New" pitchFamily="49" charset="0"/>
              </a:rPr>
              <a:t>n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= e</a:t>
            </a:r>
            <a:r>
              <a:rPr lang="en-US" sz="2000" baseline="-25000" dirty="0">
                <a:latin typeface="Courier New" pitchFamily="49" charset="0"/>
                <a:cs typeface="Courier New" pitchFamily="49" charset="0"/>
              </a:rPr>
              <a:t>n</a:t>
            </a:r>
          </a:p>
          <a:p>
            <a:pPr lvl="1"/>
            <a:r>
              <a:rPr lang="en-US" sz="2000" dirty="0">
                <a:latin typeface="Courier New" pitchFamily="49" charset="0"/>
                <a:cs typeface="Courier New" pitchFamily="49" charset="0"/>
              </a:rPr>
              <a:t>in</a:t>
            </a:r>
          </a:p>
          <a:p>
            <a:pPr lvl="1"/>
            <a:r>
              <a:rPr lang="en-US" sz="2000" dirty="0">
                <a:latin typeface="Courier New" pitchFamily="49" charset="0"/>
                <a:cs typeface="Courier New" pitchFamily="49" charset="0"/>
              </a:rPr>
              <a:t>  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712"/>
    </mc:Choice>
    <mc:Fallback xmlns="">
      <p:transition spd="slow" advTm="43712"/>
    </mc:Fallback>
  </mc:AlternateContent>
  <p:timing>
    <p:tnLst>
      <p:par>
        <p:cTn id="1" dur="indefinite" restart="never" nodeType="tmRoot"/>
      </p:par>
    </p:tnLst>
  </p:timing>
  <p:extLst mod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Define Expression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TMA3093 FM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B1A8DBF-ECB1-4273-B8C2-FA2BBC69428D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85800" y="1447800"/>
            <a:ext cx="7772400" cy="47244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400" kern="0" dirty="0" smtClean="0"/>
              <a:t>Example</a:t>
            </a:r>
          </a:p>
          <a:p>
            <a:endParaRPr lang="en-US" sz="2400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sz="2400" kern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2400" kern="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def</a:t>
            </a:r>
            <a:r>
              <a:rPr lang="en-US" sz="2400" kern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kern="0" dirty="0" smtClean="0"/>
              <a:t>user = public</a:t>
            </a:r>
          </a:p>
          <a:p>
            <a:pPr marL="0" indent="0">
              <a:buNone/>
            </a:pPr>
            <a:r>
              <a:rPr lang="en-US" sz="24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kern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in </a:t>
            </a:r>
          </a:p>
          <a:p>
            <a:pPr marL="0" indent="0">
              <a:buNone/>
            </a:pPr>
            <a:r>
              <a:rPr lang="en-US" sz="24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kern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if </a:t>
            </a:r>
            <a:r>
              <a:rPr lang="en-US" sz="2400" kern="0" dirty="0" smtClean="0"/>
              <a:t>user = &lt;</a:t>
            </a:r>
            <a:r>
              <a:rPr lang="en-US" sz="2400" kern="0" dirty="0" err="1" smtClean="0"/>
              <a:t>SoftwareEngineering</a:t>
            </a:r>
            <a:r>
              <a:rPr lang="en-US" sz="2400" kern="0" dirty="0"/>
              <a:t>&gt;</a:t>
            </a:r>
            <a:endParaRPr lang="en-US" sz="2400" kern="0" dirty="0" smtClean="0"/>
          </a:p>
          <a:p>
            <a:pPr marL="0" indent="0">
              <a:buNone/>
            </a:pPr>
            <a:r>
              <a:rPr lang="en-US" sz="24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00" kern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then </a:t>
            </a:r>
            <a:r>
              <a:rPr lang="en-US" sz="2400" kern="0" dirty="0" smtClean="0"/>
              <a:t>true</a:t>
            </a:r>
          </a:p>
          <a:p>
            <a:pPr marL="0" indent="0">
              <a:buNone/>
            </a:pPr>
            <a:r>
              <a:rPr lang="en-US" sz="24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 </a:t>
            </a:r>
            <a:r>
              <a:rPr lang="en-US" sz="2400" kern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else </a:t>
            </a:r>
            <a:r>
              <a:rPr lang="en-US" sz="2400" kern="0" dirty="0" smtClean="0"/>
              <a:t>false</a:t>
            </a:r>
          </a:p>
          <a:p>
            <a:endParaRPr lang="en-US" sz="2400" kern="0" dirty="0" smtClean="0"/>
          </a:p>
          <a:p>
            <a:endParaRPr lang="en-US" sz="2400" kern="0" dirty="0" smtClean="0"/>
          </a:p>
          <a:p>
            <a:endParaRPr lang="en-US" sz="2400" kern="0" dirty="0" smtClean="0"/>
          </a:p>
          <a:p>
            <a:endParaRPr lang="en-US" sz="2400" kern="0" dirty="0" smtClean="0"/>
          </a:p>
          <a:p>
            <a:endParaRPr lang="en-US" sz="2400" kern="0" dirty="0" smtClean="0"/>
          </a:p>
        </p:txBody>
      </p:sp>
    </p:spTree>
    <p:extLst>
      <p:ext uri="{BB962C8B-B14F-4D97-AF65-F5344CB8AC3E}">
        <p14:creationId xmlns:p14="http://schemas.microsoft.com/office/powerpoint/2010/main" val="3016107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/>
          <p:cNvSpPr/>
          <p:nvPr/>
        </p:nvSpPr>
        <p:spPr bwMode="auto">
          <a:xfrm>
            <a:off x="1830087" y="4261265"/>
            <a:ext cx="3913787" cy="688034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charset="0"/>
            </a:endParaRP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8B4E85-7FCC-4AFE-BA25-BC2D7586B404}" type="slidenum">
              <a:rPr lang="da-DK"/>
              <a:pPr/>
              <a:t>17</a:t>
            </a:fld>
            <a:endParaRPr lang="da-DK"/>
          </a:p>
        </p:txBody>
      </p:sp>
      <p:sp>
        <p:nvSpPr>
          <p:cNvPr id="254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Define Expressions</a:t>
            </a:r>
          </a:p>
        </p:txBody>
      </p:sp>
      <p:sp>
        <p:nvSpPr>
          <p:cNvPr id="254979" name="Text Box 3"/>
          <p:cNvSpPr txBox="1">
            <a:spLocks noChangeArrowheads="1"/>
          </p:cNvSpPr>
          <p:nvPr/>
        </p:nvSpPr>
        <p:spPr bwMode="auto">
          <a:xfrm>
            <a:off x="792163" y="1512888"/>
            <a:ext cx="4313237" cy="11908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058" tIns="41029" rIns="82058" bIns="41029">
            <a:spAutoFit/>
          </a:bodyPr>
          <a:lstStyle/>
          <a:p>
            <a:pPr defTabSz="820738" eaLnBrk="0" hangingPunct="0"/>
            <a:r>
              <a:rPr lang="en-US" dirty="0">
                <a:latin typeface="Arial" pitchFamily="34" charset="0"/>
                <a:cs typeface="Arial" pitchFamily="34" charset="0"/>
              </a:rPr>
              <a:t>The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right-hand side </a:t>
            </a:r>
            <a:r>
              <a:rPr lang="en-US" dirty="0">
                <a:latin typeface="Arial" pitchFamily="34" charset="0"/>
                <a:cs typeface="Arial" pitchFamily="34" charset="0"/>
              </a:rPr>
              <a:t>of a define 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 defTabSz="820738" eaLnBrk="0" hangingPunct="0"/>
            <a:r>
              <a:rPr lang="en-US" dirty="0" smtClean="0">
                <a:latin typeface="Arial" pitchFamily="34" charset="0"/>
                <a:cs typeface="Arial" pitchFamily="34" charset="0"/>
              </a:rPr>
              <a:t>expression </a:t>
            </a:r>
            <a:r>
              <a:rPr lang="en-US" dirty="0">
                <a:latin typeface="Arial" pitchFamily="34" charset="0"/>
                <a:cs typeface="Arial" pitchFamily="34" charset="0"/>
              </a:rPr>
              <a:t>has access to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the</a:t>
            </a:r>
          </a:p>
          <a:p>
            <a:pPr defTabSz="820738" eaLnBrk="0" hangingPunct="0"/>
            <a:r>
              <a:rPr lang="en-US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latin typeface="Arial" pitchFamily="34" charset="0"/>
                <a:cs typeface="Arial" pitchFamily="34" charset="0"/>
              </a:rPr>
              <a:t>instance variables.</a:t>
            </a:r>
          </a:p>
        </p:txBody>
      </p:sp>
      <p:sp>
        <p:nvSpPr>
          <p:cNvPr id="254980" name="Text Box 4"/>
          <p:cNvSpPr txBox="1">
            <a:spLocks noChangeArrowheads="1"/>
          </p:cNvSpPr>
          <p:nvPr/>
        </p:nvSpPr>
        <p:spPr bwMode="auto">
          <a:xfrm>
            <a:off x="1662113" y="3092450"/>
            <a:ext cx="4987925" cy="4521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82058" tIns="41029" rIns="82058" bIns="41029">
            <a:spAutoFit/>
          </a:bodyPr>
          <a:lstStyle/>
          <a:p>
            <a:pPr defTabSz="820738" eaLnBrk="0" hangingPunct="0">
              <a:spcBef>
                <a:spcPct val="50000"/>
              </a:spcBef>
            </a:pPr>
            <a:endParaRPr lang="da-DK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254981" name="Text Box 5"/>
          <p:cNvSpPr txBox="1">
            <a:spLocks noChangeArrowheads="1"/>
          </p:cNvSpPr>
          <p:nvPr/>
        </p:nvSpPr>
        <p:spPr bwMode="auto">
          <a:xfrm>
            <a:off x="685800" y="4409964"/>
            <a:ext cx="5090144" cy="390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82058" tIns="41029" rIns="82058" bIns="41029">
            <a:spAutoFit/>
          </a:bodyPr>
          <a:lstStyle/>
          <a:p>
            <a:pPr defTabSz="820738" eaLnBrk="0" hangingPunct="0"/>
            <a:r>
              <a:rPr lang="en-US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def</a:t>
            </a:r>
            <a:r>
              <a:rPr 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a = </a:t>
            </a:r>
            <a:r>
              <a:rPr lang="en-US" sz="2000" dirty="0" err="1" smtClean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OpCall</a:t>
            </a:r>
            <a:r>
              <a:rPr lang="en-US" sz="20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(arg1,arg2)</a:t>
            </a:r>
            <a:r>
              <a:rPr lang="en-US" sz="20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in</a:t>
            </a:r>
            <a:r>
              <a:rPr lang="en-US" sz="2000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cs typeface="Courier New" pitchFamily="49" charset="0"/>
              </a:rPr>
              <a:t>f(a)</a:t>
            </a:r>
          </a:p>
        </p:txBody>
      </p:sp>
      <p:sp>
        <p:nvSpPr>
          <p:cNvPr id="254984" name="Text Box 8"/>
          <p:cNvSpPr txBox="1">
            <a:spLocks noChangeArrowheads="1"/>
          </p:cNvSpPr>
          <p:nvPr/>
        </p:nvSpPr>
        <p:spPr bwMode="auto">
          <a:xfrm>
            <a:off x="762475" y="3223138"/>
            <a:ext cx="4135437" cy="8215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058" tIns="41029" rIns="82058" bIns="41029">
            <a:spAutoFit/>
          </a:bodyPr>
          <a:lstStyle/>
          <a:p>
            <a:pPr defTabSz="820738" eaLnBrk="0" hangingPunct="0"/>
            <a:r>
              <a:rPr lang="en-US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rPr>
              <a:t>The state could be changed by an operation call: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8639" y="2294226"/>
            <a:ext cx="2642074" cy="3934077"/>
          </a:xfrm>
          <a:prstGeom prst="rect">
            <a:avLst/>
          </a:prstGeom>
        </p:spPr>
      </p:pic>
      <p:cxnSp>
        <p:nvCxnSpPr>
          <p:cNvPr id="15" name="Straight Arrow Connector 14"/>
          <p:cNvCxnSpPr>
            <a:stCxn id="254981" idx="3"/>
          </p:cNvCxnSpPr>
          <p:nvPr/>
        </p:nvCxnSpPr>
        <p:spPr bwMode="auto">
          <a:xfrm>
            <a:off x="5775944" y="4605282"/>
            <a:ext cx="777256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TMA3093 FM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718759"/>
      </p:ext>
    </p:extLst>
  </p:cSld>
  <p:clrMapOvr>
    <a:masterClrMapping/>
  </p:clrMapOvr>
  <p:transition advTm="70775"/>
  <p:timing>
    <p:tnLst>
      <p:par>
        <p:cTn id="1" dur="indefinite" restart="never" nodeType="tmRoot"/>
      </p:par>
    </p:tnLst>
  </p:timing>
  <p:extLst mod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76200"/>
            <a:ext cx="7772400" cy="1066800"/>
          </a:xfrm>
        </p:spPr>
        <p:txBody>
          <a:bodyPr/>
          <a:lstStyle/>
          <a:p>
            <a:r>
              <a:rPr lang="en-US" dirty="0"/>
              <a:t>Conditional Expressions</a:t>
            </a:r>
            <a:br>
              <a:rPr lang="en-US" dirty="0"/>
            </a:br>
            <a:r>
              <a:rPr lang="en-US" dirty="0"/>
              <a:t> Syntax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TMA3093 FM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797D14-C1D9-459E-B99C-12FC798145F5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85800" y="1447800"/>
            <a:ext cx="8001000" cy="397031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expression = . . .</a:t>
            </a:r>
          </a:p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           | if expression</a:t>
            </a:r>
          </a:p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           | cases expression</a:t>
            </a:r>
          </a:p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           | . . . ;</a:t>
            </a:r>
          </a:p>
          <a:p>
            <a:endParaRPr lang="en-US" sz="18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if expression = ‘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’, expression, ‘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then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’, expression,</a:t>
            </a:r>
          </a:p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              { </a:t>
            </a:r>
            <a:r>
              <a:rPr lang="en-US" sz="1800" b="1" dirty="0" err="1">
                <a:latin typeface="Courier New" pitchFamily="49" charset="0"/>
                <a:cs typeface="Courier New" pitchFamily="49" charset="0"/>
              </a:rPr>
              <a:t>elseif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 expression }, ‘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else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’, expression ;</a:t>
            </a:r>
          </a:p>
          <a:p>
            <a:endParaRPr lang="en-US" sz="18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800" dirty="0" err="1">
                <a:solidFill>
                  <a:schemeClr val="accent2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elseif</a:t>
            </a: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expression = </a:t>
            </a:r>
          </a:p>
          <a:p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               ‘</a:t>
            </a:r>
            <a:r>
              <a:rPr lang="en-US" sz="1800" b="1" dirty="0" err="1">
                <a:solidFill>
                  <a:schemeClr val="accent2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elseif</a:t>
            </a: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’, expression, ‘</a:t>
            </a:r>
            <a:r>
              <a:rPr lang="en-US" sz="1800" b="1" dirty="0">
                <a:solidFill>
                  <a:schemeClr val="accent2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then</a:t>
            </a: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Courier New" pitchFamily="49" charset="0"/>
                <a:cs typeface="Courier New" pitchFamily="49" charset="0"/>
              </a:rPr>
              <a:t>’, expression 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endParaRPr lang="en-US" sz="18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cases expression = ‘</a:t>
            </a:r>
            <a:r>
              <a:rPr lang="en-US" sz="1800" b="1" dirty="0">
                <a:latin typeface="Courier New" pitchFamily="49" charset="0"/>
                <a:cs typeface="Courier New" pitchFamily="49" charset="0"/>
              </a:rPr>
              <a:t>cases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’, expression, ‘:’,</a:t>
            </a:r>
          </a:p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                   cases expression alternatives,</a:t>
            </a:r>
          </a:p>
          <a:p>
            <a:r>
              <a:rPr lang="en-US" sz="1800" dirty="0">
                <a:latin typeface="Courier New" pitchFamily="49" charset="0"/>
                <a:cs typeface="Courier New" pitchFamily="49" charset="0"/>
              </a:rPr>
              <a:t>                   [ ‘,’, others expression ], ‘end’ ;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9733"/>
    </mc:Choice>
    <mc:Fallback xmlns="">
      <p:transition spd="slow" advTm="69733"/>
    </mc:Fallback>
  </mc:AlternateContent>
  <p:timing>
    <p:tnLst>
      <p:par>
        <p:cTn id="1" dur="indefinite" restart="never" nodeType="tmRoot"/>
      </p:par>
    </p:tnLst>
  </p:timing>
  <p:extLst mod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Semantics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TMA3093 FM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797D14-C1D9-459E-B99C-12FC798145F5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09600" y="1536174"/>
            <a:ext cx="8001000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expressions</a:t>
            </a:r>
            <a:r>
              <a:rPr lang="en-US" dirty="0">
                <a:latin typeface="Arial" pitchFamily="34" charset="0"/>
                <a:cs typeface="Arial" pitchFamily="34" charset="0"/>
              </a:rPr>
              <a:t> and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cases</a:t>
            </a:r>
            <a:r>
              <a:rPr lang="en-US" dirty="0">
                <a:latin typeface="Arial" pitchFamily="34" charset="0"/>
                <a:cs typeface="Arial" pitchFamily="34" charset="0"/>
              </a:rPr>
              <a:t> expressions allow the choice of one from a number of expressions on the basis of the value of a particular expression.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The if expression has the form: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pPr lvl="1"/>
            <a:r>
              <a:rPr lang="en-US" sz="2000" b="1" dirty="0"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e1</a:t>
            </a:r>
          </a:p>
          <a:p>
            <a:pPr lvl="1"/>
            <a:r>
              <a:rPr lang="en-US" sz="2000" b="1" dirty="0">
                <a:latin typeface="Courier New" pitchFamily="49" charset="0"/>
                <a:cs typeface="Courier New" pitchFamily="49" charset="0"/>
              </a:rPr>
              <a:t>then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e2</a:t>
            </a:r>
          </a:p>
          <a:p>
            <a:pPr lvl="1"/>
            <a:r>
              <a:rPr lang="en-US" sz="2000" b="1" dirty="0">
                <a:latin typeface="Courier New" pitchFamily="49" charset="0"/>
                <a:cs typeface="Courier New" pitchFamily="49" charset="0"/>
              </a:rPr>
              <a:t>else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e3</a:t>
            </a:r>
          </a:p>
          <a:p>
            <a:pPr lvl="1"/>
            <a:endParaRPr lang="en-US" sz="2000" dirty="0">
              <a:latin typeface="Courier New" pitchFamily="49" charset="0"/>
              <a:cs typeface="Courier New" pitchFamily="49" charset="0"/>
            </a:endParaRP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where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e1</a:t>
            </a:r>
            <a:r>
              <a:rPr lang="en-US" dirty="0">
                <a:latin typeface="Arial" pitchFamily="34" charset="0"/>
                <a:cs typeface="Arial" pitchFamily="34" charset="0"/>
              </a:rPr>
              <a:t> is a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boolean</a:t>
            </a:r>
            <a:r>
              <a:rPr lang="en-US" dirty="0">
                <a:latin typeface="Arial" pitchFamily="34" charset="0"/>
                <a:cs typeface="Arial" pitchFamily="34" charset="0"/>
              </a:rPr>
              <a:t> expression, while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e2</a:t>
            </a:r>
            <a:r>
              <a:rPr lang="en-US" dirty="0">
                <a:latin typeface="Arial" pitchFamily="34" charset="0"/>
                <a:cs typeface="Arial" pitchFamily="34" charset="0"/>
              </a:rPr>
              <a:t> and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e3</a:t>
            </a:r>
            <a:r>
              <a:rPr lang="en-US" dirty="0">
                <a:latin typeface="Arial" pitchFamily="34" charset="0"/>
                <a:cs typeface="Arial" pitchFamily="34" charset="0"/>
              </a:rPr>
              <a:t> are expressions of any type.</a:t>
            </a:r>
            <a:endParaRPr lang="en-US" sz="2000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897"/>
    </mc:Choice>
    <mc:Fallback xmlns="">
      <p:transition spd="slow" advTm="24897"/>
    </mc:Fallback>
  </mc:AlternateContent>
  <p:timing>
    <p:tnLst>
      <p:par>
        <p:cTn id="1" dur="indefinite" restart="never" nodeType="tmRoot"/>
      </p:par>
    </p:tnLst>
  </p:timing>
  <p:extLst mod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expressions</a:t>
            </a:r>
            <a:br>
              <a:rPr lang="en-US" dirty="0">
                <a:latin typeface="Courier New" pitchFamily="49" charset="0"/>
                <a:cs typeface="Courier New" pitchFamily="49" charset="0"/>
              </a:rPr>
            </a:br>
            <a:r>
              <a:rPr lang="en-US" dirty="0">
                <a:latin typeface="Courier New" pitchFamily="49" charset="0"/>
                <a:cs typeface="Courier New" pitchFamily="49" charset="0"/>
              </a:rPr>
              <a:t>Example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TMA3093 FM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797D14-C1D9-459E-B99C-12FC798145F5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85800" y="1219200"/>
            <a:ext cx="74676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cs typeface="Arial" pitchFamily="34" charset="0"/>
              </a:rPr>
              <a:t>If-then-else expressions are similar to those known from programming languages.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The function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print_Const</a:t>
            </a:r>
            <a:r>
              <a:rPr lang="en-US" dirty="0">
                <a:latin typeface="Arial" pitchFamily="34" charset="0"/>
                <a:cs typeface="Arial" pitchFamily="34" charset="0"/>
              </a:rPr>
              <a:t> would be defined</a:t>
            </a:r>
            <a:endParaRPr lang="en-US" sz="2000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1600" y="2895600"/>
            <a:ext cx="4343400" cy="3142460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249"/>
    </mc:Choice>
    <mc:Fallback xmlns="">
      <p:transition spd="slow" advTm="62249"/>
    </mc:Fallback>
  </mc:AlternateContent>
  <p:timing>
    <p:tnLst>
      <p:par>
        <p:cTn id="1" dur="indefinite" restart="never" nodeType="tmRoot"/>
      </p:par>
    </p:tnLst>
  </p:timing>
  <p:extLst mod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TMA3093 FM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797D14-C1D9-459E-B99C-12FC798145F5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85800" y="1166843"/>
            <a:ext cx="8305800" cy="4462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An example of the use of conditional expressions is provided by the specification of the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mergesort</a:t>
            </a:r>
            <a:r>
              <a:rPr lang="en-US" dirty="0">
                <a:latin typeface="Arial" pitchFamily="34" charset="0"/>
                <a:cs typeface="Arial" pitchFamily="34" charset="0"/>
              </a:rPr>
              <a:t> algorithm:</a:t>
            </a:r>
          </a:p>
          <a:p>
            <a:endParaRPr lang="en-US" dirty="0"/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The sorting algorithm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mergesort</a:t>
            </a:r>
            <a:r>
              <a:rPr lang="en-US" dirty="0">
                <a:latin typeface="Arial" pitchFamily="34" charset="0"/>
                <a:cs typeface="Arial" pitchFamily="34" charset="0"/>
              </a:rPr>
              <a:t> produces a sorted sequence by sorting its two halves and merging them</a:t>
            </a:r>
          </a:p>
          <a:p>
            <a:endParaRPr lang="en-US" dirty="0"/>
          </a:p>
          <a:p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MergeSort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: 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seq of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nat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* 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seq of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nat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-&gt; 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seq of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nat</a:t>
            </a:r>
            <a:endParaRPr lang="en-US" sz="20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MergeSort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(s1,s2) ==</a:t>
            </a:r>
          </a:p>
          <a:p>
            <a:r>
              <a:rPr lang="en-US" sz="2000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if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s1 = [] 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then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s2</a:t>
            </a:r>
          </a:p>
          <a:p>
            <a:r>
              <a:rPr lang="en-US" sz="2000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elseif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s2 = [] 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then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s1</a:t>
            </a:r>
          </a:p>
          <a:p>
            <a:r>
              <a:rPr lang="en-US" sz="2000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elseif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hd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s1) &lt; (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hd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s2)</a:t>
            </a:r>
          </a:p>
          <a:p>
            <a:r>
              <a:rPr lang="en-US" sz="2000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then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[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hd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s1]^(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MergeSort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tl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s1, s2))</a:t>
            </a:r>
          </a:p>
          <a:p>
            <a:r>
              <a:rPr lang="en-US" sz="2000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else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[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hd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s2]^(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MergeSort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(s1,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tl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s2));</a:t>
            </a:r>
          </a:p>
        </p:txBody>
      </p:sp>
      <p:sp>
        <p:nvSpPr>
          <p:cNvPr id="7" name="Rectangle 6"/>
          <p:cNvSpPr/>
          <p:nvPr/>
        </p:nvSpPr>
        <p:spPr>
          <a:xfrm>
            <a:off x="3581400" y="5903893"/>
            <a:ext cx="36576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Arial" pitchFamily="34" charset="0"/>
                <a:cs typeface="Arial" pitchFamily="34" charset="0"/>
              </a:rPr>
              <a:t>What is </a:t>
            </a:r>
            <a:r>
              <a:rPr lang="en-US" sz="1400" dirty="0" err="1">
                <a:latin typeface="Arial" pitchFamily="34" charset="0"/>
                <a:cs typeface="Arial" pitchFamily="34" charset="0"/>
              </a:rPr>
              <a:t>hd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 and </a:t>
            </a:r>
            <a:r>
              <a:rPr lang="en-US" sz="1400" dirty="0" err="1">
                <a:latin typeface="Arial" pitchFamily="34" charset="0"/>
                <a:cs typeface="Arial" pitchFamily="34" charset="0"/>
              </a:rPr>
              <a:t>tl</a:t>
            </a:r>
            <a:r>
              <a:rPr lang="en-US" sz="1400" dirty="0">
                <a:latin typeface="Arial" pitchFamily="34" charset="0"/>
                <a:cs typeface="Arial" pitchFamily="34" charset="0"/>
              </a:rPr>
              <a:t>? – head &amp; tail</a:t>
            </a:r>
          </a:p>
          <a:p>
            <a:pPr lvl="1"/>
            <a:endParaRPr lang="en-US" sz="1400" b="1" dirty="0">
              <a:latin typeface="Arial" pitchFamily="34" charset="0"/>
              <a:cs typeface="Arial" pitchFamily="34" charset="0"/>
            </a:endParaRPr>
          </a:p>
          <a:p>
            <a:pPr lvl="1"/>
            <a:r>
              <a:rPr lang="en-US" sz="1400" b="1" dirty="0" err="1"/>
              <a:t>hd</a:t>
            </a:r>
            <a:r>
              <a:rPr lang="en-US" sz="1400" dirty="0"/>
              <a:t> [</a:t>
            </a:r>
            <a:r>
              <a:rPr lang="en-US" sz="1400" dirty="0">
                <a:sym typeface="Symbol" pitchFamily="18" charset="2"/>
              </a:rPr>
              <a:t>1,2,3,4,5] = [1]</a:t>
            </a:r>
          </a:p>
          <a:p>
            <a:pPr lvl="1"/>
            <a:r>
              <a:rPr lang="en-US" sz="1400" b="1" dirty="0" err="1">
                <a:sym typeface="Symbol" pitchFamily="18" charset="2"/>
              </a:rPr>
              <a:t>tl</a:t>
            </a:r>
            <a:r>
              <a:rPr lang="en-US" sz="1400" dirty="0">
                <a:sym typeface="Symbol" pitchFamily="18" charset="2"/>
              </a:rPr>
              <a:t> </a:t>
            </a:r>
            <a:r>
              <a:rPr lang="en-US" sz="1400" dirty="0"/>
              <a:t>[</a:t>
            </a:r>
            <a:r>
              <a:rPr lang="en-US" sz="1400" dirty="0">
                <a:sym typeface="Symbol" pitchFamily="18" charset="2"/>
              </a:rPr>
              <a:t>1,2,3,4,5] = [2,3,4,5] </a:t>
            </a:r>
            <a:endParaRPr lang="en-US" sz="1400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3211"/>
    </mc:Choice>
    <mc:Fallback xmlns="">
      <p:transition spd="slow" advTm="113211"/>
    </mc:Fallback>
  </mc:AlternateContent>
  <p:timing>
    <p:tnLst>
      <p:par>
        <p:cTn id="1" dur="indefinite" restart="never" nodeType="tmRoot"/>
      </p:par>
    </p:tnLst>
  </p:timing>
  <p:extLst mod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cases expression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TMA3093 FM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797D14-C1D9-459E-B99C-12FC798145F5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81000" y="1219200"/>
            <a:ext cx="83820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Arial" pitchFamily="34" charset="0"/>
                <a:cs typeface="Arial" pitchFamily="34" charset="0"/>
              </a:rPr>
              <a:t>The cases expression has the form:</a:t>
            </a:r>
          </a:p>
          <a:p>
            <a:endParaRPr lang="en-US" sz="2000" dirty="0">
              <a:latin typeface="Arial" pitchFamily="34" charset="0"/>
              <a:cs typeface="Arial" pitchFamily="34" charset="0"/>
            </a:endParaRPr>
          </a:p>
          <a:p>
            <a:endParaRPr lang="en-US" sz="2000" dirty="0">
              <a:latin typeface="Arial" pitchFamily="34" charset="0"/>
              <a:cs typeface="Arial" pitchFamily="34" charset="0"/>
            </a:endParaRPr>
          </a:p>
          <a:p>
            <a:endParaRPr lang="en-US" sz="2000" dirty="0">
              <a:latin typeface="Arial" pitchFamily="34" charset="0"/>
              <a:cs typeface="Arial" pitchFamily="34" charset="0"/>
            </a:endParaRPr>
          </a:p>
          <a:p>
            <a:endParaRPr lang="en-US" sz="2000" dirty="0">
              <a:latin typeface="Arial" pitchFamily="34" charset="0"/>
              <a:cs typeface="Arial" pitchFamily="34" charset="0"/>
            </a:endParaRPr>
          </a:p>
          <a:p>
            <a:endParaRPr lang="en-US" sz="2000" dirty="0">
              <a:latin typeface="Arial" pitchFamily="34" charset="0"/>
              <a:cs typeface="Arial" pitchFamily="34" charset="0"/>
            </a:endParaRPr>
          </a:p>
          <a:p>
            <a:endParaRPr lang="en-US" sz="2000" dirty="0">
              <a:latin typeface="Arial" pitchFamily="34" charset="0"/>
              <a:cs typeface="Arial" pitchFamily="34" charset="0"/>
            </a:endParaRPr>
          </a:p>
          <a:p>
            <a:endParaRPr lang="en-US" sz="2000" dirty="0">
              <a:latin typeface="Arial" pitchFamily="34" charset="0"/>
              <a:cs typeface="Arial" pitchFamily="34" charset="0"/>
            </a:endParaRP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The cases expression denotes the value of the </a:t>
            </a:r>
            <a:r>
              <a:rPr lang="en-U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e</a:t>
            </a:r>
            <a:r>
              <a:rPr lang="en-US" sz="2000" baseline="-25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expression</a:t>
            </a:r>
          </a:p>
          <a:p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evaluated in the context in which one of the </a:t>
            </a:r>
            <a:r>
              <a:rPr lang="en-U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p</a:t>
            </a:r>
            <a:r>
              <a:rPr lang="en-US" sz="2000" baseline="-25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ij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patterns has been matched against 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e.</a:t>
            </a:r>
          </a:p>
          <a:p>
            <a:endParaRPr lang="en-US" sz="2000" dirty="0">
              <a:latin typeface="Arial" pitchFamily="34" charset="0"/>
              <a:cs typeface="Arial" pitchFamily="34" charset="0"/>
            </a:endParaRPr>
          </a:p>
          <a:p>
            <a:r>
              <a:rPr lang="en-US" sz="2000" dirty="0" smtClean="0">
                <a:latin typeface="Arial" pitchFamily="34" charset="0"/>
                <a:cs typeface="Arial" pitchFamily="34" charset="0"/>
              </a:rPr>
              <a:t>where 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e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is an expression of any type, all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p</a:t>
            </a:r>
            <a:r>
              <a:rPr lang="en-US" sz="2000" baseline="-25000" dirty="0" err="1">
                <a:latin typeface="Courier New" pitchFamily="49" charset="0"/>
                <a:cs typeface="Courier New" pitchFamily="49" charset="0"/>
              </a:rPr>
              <a:t>ij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’s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are patterns which are matched one by one against the expression 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e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. The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e</a:t>
            </a:r>
            <a:r>
              <a:rPr lang="en-US" sz="2000" baseline="-250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’s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are expressions of any type, and the keyword 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others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and the corresponding expression 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em</a:t>
            </a:r>
            <a:r>
              <a:rPr lang="en-US" sz="2000" baseline="-25000" dirty="0">
                <a:latin typeface="Courier New" pitchFamily="49" charset="0"/>
                <a:cs typeface="Courier New" pitchFamily="49" charset="0"/>
              </a:rPr>
              <a:t>plus1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are optional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CECC7E-2697-4A58-A860-1EA43C67076B}"/>
              </a:ext>
            </a:extLst>
          </p:cNvPr>
          <p:cNvSpPr txBox="1"/>
          <p:nvPr/>
        </p:nvSpPr>
        <p:spPr>
          <a:xfrm>
            <a:off x="1105786" y="1676400"/>
            <a:ext cx="5775940" cy="193899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pPr lvl="2"/>
            <a:r>
              <a:rPr lang="en-US" sz="2000" dirty="0">
                <a:latin typeface="Courier New" pitchFamily="49" charset="0"/>
                <a:cs typeface="Courier New" pitchFamily="49" charset="0"/>
              </a:rPr>
              <a:t>cases e :</a:t>
            </a:r>
          </a:p>
          <a:p>
            <a:pPr lvl="2"/>
            <a:r>
              <a:rPr lang="en-US" sz="2000" dirty="0">
                <a:latin typeface="Courier New" pitchFamily="49" charset="0"/>
                <a:cs typeface="Courier New" pitchFamily="49" charset="0"/>
              </a:rPr>
              <a:t>   p</a:t>
            </a:r>
            <a:r>
              <a:rPr lang="en-US" sz="2000" baseline="-25000" dirty="0">
                <a:latin typeface="Courier New" pitchFamily="49" charset="0"/>
                <a:cs typeface="Courier New" pitchFamily="49" charset="0"/>
              </a:rPr>
              <a:t>11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, p</a:t>
            </a:r>
            <a:r>
              <a:rPr lang="en-US" sz="2000" baseline="-25000" dirty="0">
                <a:latin typeface="Courier New" pitchFamily="49" charset="0"/>
                <a:cs typeface="Courier New" pitchFamily="49" charset="0"/>
              </a:rPr>
              <a:t>12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, ..., p</a:t>
            </a:r>
            <a:r>
              <a:rPr lang="en-US" baseline="-25000" dirty="0">
                <a:latin typeface="Courier New" pitchFamily="49" charset="0"/>
                <a:cs typeface="Courier New" pitchFamily="49" charset="0"/>
              </a:rPr>
              <a:t>1n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-&gt; e</a:t>
            </a:r>
            <a:r>
              <a:rPr lang="en-US" sz="2000" baseline="-25000" dirty="0"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pPr lvl="2"/>
            <a:r>
              <a:rPr lang="en-US" sz="2000" dirty="0">
                <a:latin typeface="Courier New" pitchFamily="49" charset="0"/>
                <a:cs typeface="Courier New" pitchFamily="49" charset="0"/>
              </a:rPr>
              <a:t>		 ...,</a:t>
            </a:r>
          </a:p>
          <a:p>
            <a:pPr lvl="2"/>
            <a:r>
              <a:rPr lang="en-US" sz="2000" dirty="0">
                <a:latin typeface="Courier New" pitchFamily="49" charset="0"/>
                <a:cs typeface="Courier New" pitchFamily="49" charset="0"/>
              </a:rPr>
              <a:t>   p</a:t>
            </a:r>
            <a:r>
              <a:rPr lang="en-US" sz="2000" baseline="-25000" dirty="0">
                <a:latin typeface="Courier New" pitchFamily="49" charset="0"/>
                <a:cs typeface="Courier New" pitchFamily="49" charset="0"/>
              </a:rPr>
              <a:t>m1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, p</a:t>
            </a:r>
            <a:r>
              <a:rPr lang="en-US" sz="2000" baseline="-25000" dirty="0">
                <a:latin typeface="Courier New" pitchFamily="49" charset="0"/>
                <a:cs typeface="Courier New" pitchFamily="49" charset="0"/>
              </a:rPr>
              <a:t>m2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, ...,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p</a:t>
            </a:r>
            <a:r>
              <a:rPr lang="en-US" sz="2000" baseline="-25000" dirty="0" err="1">
                <a:latin typeface="Courier New" pitchFamily="49" charset="0"/>
                <a:cs typeface="Courier New" pitchFamily="49" charset="0"/>
              </a:rPr>
              <a:t>mk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-&gt;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e</a:t>
            </a:r>
            <a:r>
              <a:rPr lang="en-US" sz="2000" baseline="-25000" dirty="0" err="1">
                <a:latin typeface="Courier New" pitchFamily="49" charset="0"/>
                <a:cs typeface="Courier New" pitchFamily="49" charset="0"/>
              </a:rPr>
              <a:t>m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,</a:t>
            </a:r>
          </a:p>
          <a:p>
            <a:pPr lvl="2"/>
            <a:r>
              <a:rPr lang="en-US" sz="2000" dirty="0">
                <a:latin typeface="Courier New" pitchFamily="49" charset="0"/>
                <a:cs typeface="Courier New" pitchFamily="49" charset="0"/>
              </a:rPr>
              <a:t>   others             -&gt; em</a:t>
            </a:r>
            <a:r>
              <a:rPr lang="en-US" sz="2000" baseline="-25000" dirty="0">
                <a:latin typeface="Courier New" pitchFamily="49" charset="0"/>
                <a:cs typeface="Courier New" pitchFamily="49" charset="0"/>
              </a:rPr>
              <a:t>plus1</a:t>
            </a:r>
          </a:p>
          <a:p>
            <a:r>
              <a:rPr lang="en-US" sz="2000" dirty="0">
                <a:latin typeface="Courier New" pitchFamily="49" charset="0"/>
                <a:cs typeface="Courier New" pitchFamily="49" charset="0"/>
              </a:rPr>
              <a:t>      end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0055"/>
    </mc:Choice>
    <mc:Fallback xmlns="">
      <p:transition spd="slow" advTm="80055"/>
    </mc:Fallback>
  </mc:AlternateContent>
  <p:timing>
    <p:tnLst>
      <p:par>
        <p:cTn id="1" dur="indefinite" restart="never" nodeType="tmRoot"/>
      </p:par>
    </p:tnLst>
  </p:timing>
  <p:extLst mod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TMA3093 FM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797D14-C1D9-459E-B99C-12FC798145F5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199" y="1371600"/>
            <a:ext cx="6181725" cy="449580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>
            <a:solidFill>
              <a:schemeClr val="accent3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6032376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24B95-A602-432F-9DAF-93494AFA9F7B}" type="slidenum">
              <a:rPr lang="da-DK"/>
              <a:pPr/>
              <a:t>24</a:t>
            </a:fld>
            <a:endParaRPr lang="da-DK" dirty="0"/>
          </a:p>
        </p:txBody>
      </p:sp>
      <p:sp>
        <p:nvSpPr>
          <p:cNvPr id="24678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8213725" cy="1120775"/>
          </a:xfrm>
        </p:spPr>
        <p:txBody>
          <a:bodyPr/>
          <a:lstStyle/>
          <a:p>
            <a:r>
              <a:rPr lang="en-US" dirty="0"/>
              <a:t>Cases Expressions</a:t>
            </a:r>
          </a:p>
        </p:txBody>
      </p:sp>
      <p:sp>
        <p:nvSpPr>
          <p:cNvPr id="246787" name="Text Box 3"/>
          <p:cNvSpPr txBox="1">
            <a:spLocks noChangeArrowheads="1"/>
          </p:cNvSpPr>
          <p:nvPr/>
        </p:nvSpPr>
        <p:spPr bwMode="auto">
          <a:xfrm>
            <a:off x="661988" y="1471613"/>
            <a:ext cx="5586412" cy="17448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058" tIns="41029" rIns="82058" bIns="41029">
            <a:spAutoFit/>
          </a:bodyPr>
          <a:lstStyle/>
          <a:p>
            <a:pPr defTabSz="820738" eaLnBrk="0" hangingPunct="0">
              <a:spcBef>
                <a:spcPct val="50000"/>
              </a:spcBef>
            </a:pPr>
            <a:r>
              <a:rPr lang="en-US" dirty="0">
                <a:latin typeface="Arial" pitchFamily="34" charset="0"/>
                <a:cs typeface="Arial" pitchFamily="34" charset="0"/>
              </a:rPr>
              <a:t>Cases expressions are very powerful because of  pattern matching:</a:t>
            </a:r>
          </a:p>
          <a:p>
            <a:pPr defTabSz="820738" eaLnBrk="0" hangingPunct="0">
              <a:spcBef>
                <a:spcPct val="50000"/>
              </a:spcBef>
            </a:pPr>
            <a:r>
              <a:rPr lang="en-US" dirty="0">
                <a:latin typeface="Arial" pitchFamily="34" charset="0"/>
                <a:cs typeface="Arial" pitchFamily="34" charset="0"/>
              </a:rPr>
              <a:t>Simple example function determine grade of the course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3491345"/>
            <a:ext cx="3999448" cy="2895600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  <a:effectLst/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TMA3093 FM</a:t>
            </a:r>
            <a:endParaRPr lang="en-US"/>
          </a:p>
        </p:txBody>
      </p:sp>
    </p:spTree>
  </p:cSld>
  <p:clrMapOvr>
    <a:masterClrMapping/>
  </p:clrMapOvr>
  <p:transition advTm="82728"/>
  <p:timing>
    <p:tnLst>
      <p:par>
        <p:cTn id="1" dur="indefinite" restart="never" nodeType="tmRoot"/>
      </p:par>
    </p:tnLst>
  </p:timing>
  <p:extLst mod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03C8F-0BC9-4AFE-80E1-99053E59C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Expressions</a:t>
            </a:r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048180-BD9E-480A-A547-09B288A0C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TMA3093 FM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43A1A-EDCB-4355-9F59-12B38E479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797D14-C1D9-459E-B99C-12FC798145F5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75C27ED-4C10-4F3A-8452-093D95EAAD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295400"/>
            <a:ext cx="7551738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400" kern="0" dirty="0"/>
              <a:t>Set </a:t>
            </a:r>
            <a:r>
              <a:rPr lang="en-US" sz="24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enumeration</a:t>
            </a:r>
            <a:r>
              <a:rPr lang="en-US" sz="2400" kern="0" dirty="0"/>
              <a:t>:</a:t>
            </a:r>
            <a:br>
              <a:rPr lang="en-US" sz="2400" kern="0" dirty="0"/>
            </a:br>
            <a:r>
              <a:rPr lang="en-US" sz="2400" kern="0" dirty="0"/>
              <a:t>	</a:t>
            </a:r>
            <a:r>
              <a:rPr lang="en-US" sz="2000" kern="0" dirty="0">
                <a:latin typeface="Courier New" pitchFamily="49" charset="0"/>
                <a:cs typeface="Courier New" pitchFamily="49" charset="0"/>
              </a:rPr>
              <a:t>{e1, e2, … . </a:t>
            </a:r>
            <a:r>
              <a:rPr lang="en-US" sz="2000" kern="0" dirty="0" err="1">
                <a:latin typeface="Courier New" pitchFamily="49" charset="0"/>
                <a:cs typeface="Courier New" pitchFamily="49" charset="0"/>
              </a:rPr>
              <a:t>en</a:t>
            </a:r>
            <a:r>
              <a:rPr lang="en-US" sz="2000" kern="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buFontTx/>
              <a:buNone/>
            </a:pPr>
            <a:r>
              <a:rPr lang="en-US" sz="2400" kern="0" dirty="0"/>
              <a:t>    where </a:t>
            </a:r>
            <a:r>
              <a:rPr lang="en-US" sz="2400" kern="0" dirty="0">
                <a:latin typeface="Courier New" pitchFamily="49" charset="0"/>
                <a:cs typeface="Courier New" pitchFamily="49" charset="0"/>
              </a:rPr>
              <a:t>e1</a:t>
            </a:r>
            <a:r>
              <a:rPr lang="en-US" sz="2400" kern="0" dirty="0"/>
              <a:t>; </a:t>
            </a:r>
            <a:r>
              <a:rPr lang="en-US" sz="2400" kern="0" dirty="0">
                <a:latin typeface="Courier New" pitchFamily="49" charset="0"/>
                <a:cs typeface="Courier New" pitchFamily="49" charset="0"/>
              </a:rPr>
              <a:t>e2</a:t>
            </a:r>
            <a:r>
              <a:rPr lang="en-US" sz="2400" kern="0" dirty="0"/>
              <a:t> and </a:t>
            </a:r>
            <a:r>
              <a:rPr lang="en-US" sz="2400" kern="0" dirty="0" err="1">
                <a:latin typeface="Courier New" pitchFamily="49" charset="0"/>
                <a:cs typeface="Courier New" pitchFamily="49" charset="0"/>
              </a:rPr>
              <a:t>en</a:t>
            </a:r>
            <a:r>
              <a:rPr lang="en-US" sz="2400" kern="0" dirty="0"/>
              <a:t> are expressions of the set</a:t>
            </a:r>
            <a:r>
              <a:rPr lang="en-US" sz="2400" i="1" kern="0" dirty="0">
                <a:latin typeface="Courier New" pitchFamily="49" charset="0"/>
              </a:rPr>
              <a:t>.</a:t>
            </a:r>
            <a:endParaRPr lang="en-US" sz="2400" kern="0" dirty="0">
              <a:latin typeface="Courier New" pitchFamily="49" charset="0"/>
            </a:endParaRPr>
          </a:p>
          <a:p>
            <a:endParaRPr lang="en-US" sz="2400" kern="0" dirty="0"/>
          </a:p>
          <a:p>
            <a:r>
              <a:rPr lang="en-US" sz="2400" kern="0" dirty="0"/>
              <a:t>Set </a:t>
            </a:r>
            <a:r>
              <a:rPr lang="en-US" sz="24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comprehension</a:t>
            </a:r>
            <a:r>
              <a:rPr lang="en-US" sz="2400" kern="0" dirty="0"/>
              <a:t> can either use set binding:</a:t>
            </a:r>
            <a:br>
              <a:rPr lang="en-US" sz="2400" kern="0" dirty="0"/>
            </a:br>
            <a:r>
              <a:rPr lang="en-US" sz="2400" kern="0" dirty="0"/>
              <a:t>	</a:t>
            </a:r>
            <a:r>
              <a:rPr lang="en-US" sz="2000" kern="0" dirty="0">
                <a:latin typeface="Courier New" pitchFamily="49" charset="0"/>
                <a:cs typeface="Courier New" pitchFamily="49" charset="0"/>
              </a:rPr>
              <a:t>{e | b1, b2, … , </a:t>
            </a:r>
            <a:r>
              <a:rPr lang="en-US" sz="2000" kern="0" dirty="0" err="1">
                <a:latin typeface="Courier New" pitchFamily="49" charset="0"/>
                <a:cs typeface="Courier New" pitchFamily="49" charset="0"/>
              </a:rPr>
              <a:t>bn</a:t>
            </a:r>
            <a:r>
              <a:rPr lang="en-US" sz="2000" kern="0" dirty="0">
                <a:latin typeface="Courier New" pitchFamily="49" charset="0"/>
                <a:cs typeface="Courier New" pitchFamily="49" charset="0"/>
              </a:rPr>
              <a:t> &amp; P}</a:t>
            </a:r>
          </a:p>
          <a:p>
            <a:pPr>
              <a:buFontTx/>
              <a:buNone/>
            </a:pPr>
            <a:r>
              <a:rPr lang="en-US" sz="2400" kern="0" dirty="0"/>
              <a:t>    which will construct a set by evaluating the expression e on all </a:t>
            </a:r>
            <a:r>
              <a:rPr lang="en-US" sz="24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binding</a:t>
            </a:r>
            <a:r>
              <a:rPr lang="en-US" sz="2400" kern="0" dirty="0"/>
              <a:t> </a:t>
            </a:r>
            <a:r>
              <a:rPr lang="en-US" sz="2400" kern="0" dirty="0">
                <a:latin typeface="Courier New" pitchFamily="49" charset="0"/>
                <a:cs typeface="Courier New" pitchFamily="49" charset="0"/>
              </a:rPr>
              <a:t>b1, b2, …, </a:t>
            </a:r>
            <a:r>
              <a:rPr lang="en-US" sz="2400" kern="0" dirty="0" err="1">
                <a:latin typeface="Courier New" pitchFamily="49" charset="0"/>
                <a:cs typeface="Courier New" pitchFamily="49" charset="0"/>
              </a:rPr>
              <a:t>bn</a:t>
            </a:r>
            <a:endParaRPr lang="en-US" sz="2400" kern="0" dirty="0">
              <a:latin typeface="Courier New" pitchFamily="49" charset="0"/>
              <a:cs typeface="Courier New" pitchFamily="49" charset="0"/>
            </a:endParaRPr>
          </a:p>
          <a:p>
            <a:pPr>
              <a:buFontTx/>
              <a:buNone/>
            </a:pPr>
            <a:r>
              <a:rPr lang="en-US" sz="2400" kern="0" dirty="0"/>
              <a:t>    for which the </a:t>
            </a:r>
            <a:r>
              <a:rPr lang="en-US" sz="24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predicate </a:t>
            </a:r>
            <a:r>
              <a:rPr lang="en-US" sz="24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itchFamily="49" charset="0"/>
              </a:rPr>
              <a:t>P</a:t>
            </a:r>
            <a:r>
              <a:rPr lang="en-US" sz="2400" kern="0" dirty="0"/>
              <a:t> evaluates to true.</a:t>
            </a:r>
          </a:p>
          <a:p>
            <a:pPr>
              <a:buFontTx/>
              <a:buNone/>
            </a:pPr>
            <a:r>
              <a:rPr lang="en-US" sz="2400" kern="0" dirty="0"/>
              <a:t>	or type binding</a:t>
            </a:r>
            <a:r>
              <a:rPr lang="en-US" sz="2400" kern="0" dirty="0">
                <a:latin typeface="Courier New" pitchFamily="49" charset="0"/>
              </a:rPr>
              <a:t>:</a:t>
            </a:r>
            <a:br>
              <a:rPr lang="en-US" sz="2400" kern="0" dirty="0">
                <a:latin typeface="Courier New" pitchFamily="49" charset="0"/>
              </a:rPr>
            </a:br>
            <a:r>
              <a:rPr lang="en-US" sz="2000" kern="0" dirty="0">
                <a:latin typeface="Courier New" pitchFamily="49" charset="0"/>
              </a:rPr>
              <a:t>  {a | a: </a:t>
            </a:r>
            <a:r>
              <a:rPr lang="en-US" sz="2000" b="1" kern="0" dirty="0" err="1">
                <a:latin typeface="Courier New" pitchFamily="49" charset="0"/>
              </a:rPr>
              <a:t>nat</a:t>
            </a:r>
            <a:r>
              <a:rPr lang="en-US" sz="2000" kern="0" dirty="0">
                <a:latin typeface="Courier New" pitchFamily="49" charset="0"/>
              </a:rPr>
              <a:t> &amp; a&lt;10}</a:t>
            </a:r>
            <a:endParaRPr lang="en-US" sz="2000" kern="0" dirty="0"/>
          </a:p>
          <a:p>
            <a:r>
              <a:rPr lang="en-US" sz="2400" kern="0" dirty="0"/>
              <a:t>Set range expression:</a:t>
            </a:r>
            <a:br>
              <a:rPr lang="en-US" sz="2400" kern="0" dirty="0"/>
            </a:br>
            <a:r>
              <a:rPr lang="en-US" sz="2400" kern="0" dirty="0">
                <a:latin typeface="Courier New" pitchFamily="49" charset="0"/>
              </a:rPr>
              <a:t>  </a:t>
            </a:r>
            <a:r>
              <a:rPr lang="en-US" sz="2000" kern="0" dirty="0">
                <a:latin typeface="Courier New" pitchFamily="49" charset="0"/>
              </a:rPr>
              <a:t>{3,...,10}</a:t>
            </a:r>
            <a:endParaRPr lang="en-US" sz="2000" kern="0" dirty="0"/>
          </a:p>
        </p:txBody>
      </p:sp>
    </p:spTree>
    <p:extLst>
      <p:ext uri="{BB962C8B-B14F-4D97-AF65-F5344CB8AC3E}">
        <p14:creationId xmlns:p14="http://schemas.microsoft.com/office/powerpoint/2010/main" val="3692384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5813"/>
    </mc:Choice>
    <mc:Fallback xmlns="">
      <p:transition spd="slow" advTm="125813"/>
    </mc:Fallback>
  </mc:AlternateContent>
  <p:timing>
    <p:tnLst>
      <p:par>
        <p:cTn id="1" dur="indefinite" restart="never" nodeType="tmRoot"/>
      </p:par>
    </p:tnLst>
  </p:timing>
  <p:extLst mod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TMA3093 FM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797D14-C1D9-459E-B99C-12FC798145F5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9567" y="1295400"/>
            <a:ext cx="5945736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2074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Sequence Expression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295400"/>
            <a:ext cx="7772400" cy="4724400"/>
          </a:xfrm>
        </p:spPr>
        <p:txBody>
          <a:bodyPr/>
          <a:lstStyle/>
          <a:p>
            <a:pPr>
              <a:buNone/>
            </a:pPr>
            <a:r>
              <a:rPr lang="en-US" sz="2400" dirty="0"/>
              <a:t>Sequence is an ordered and finite collection of elements of same type indexed by 1,2, …, n.</a:t>
            </a:r>
          </a:p>
          <a:p>
            <a:pPr>
              <a:buNone/>
            </a:pPr>
            <a:r>
              <a:rPr lang="en-US" sz="2400" dirty="0"/>
              <a:t>    e.g., [</a:t>
            </a:r>
            <a:r>
              <a:rPr lang="en-US" sz="2400" dirty="0" err="1"/>
              <a:t>a,b,c,d</a:t>
            </a:r>
            <a:r>
              <a:rPr lang="en-US" sz="2400" dirty="0"/>
              <a:t>]</a:t>
            </a:r>
          </a:p>
          <a:p>
            <a:pPr>
              <a:buNone/>
            </a:pPr>
            <a:endParaRPr lang="en-US" sz="2400" i="1" dirty="0"/>
          </a:p>
          <a:p>
            <a:pPr>
              <a:buNone/>
            </a:pPr>
            <a:r>
              <a:rPr lang="en-US" sz="2400" dirty="0"/>
              <a:t> Sequence comprehension can only use 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set bind with numeric values</a:t>
            </a:r>
            <a:r>
              <a:rPr lang="en-US" sz="2400" dirty="0"/>
              <a:t> (numeric order is used):</a:t>
            </a:r>
          </a:p>
          <a:p>
            <a:pPr>
              <a:buNone/>
            </a:pPr>
            <a:r>
              <a:rPr lang="en-US" sz="2400" dirty="0">
                <a:latin typeface="Courier New" pitchFamily="49" charset="0"/>
              </a:rPr>
              <a:t>  Syntax </a:t>
            </a:r>
          </a:p>
          <a:p>
            <a:pPr>
              <a:buNone/>
            </a:pPr>
            <a:r>
              <a:rPr lang="en-US" sz="2400" dirty="0">
                <a:latin typeface="Courier New" pitchFamily="49" charset="0"/>
                <a:cs typeface="Courier New" pitchFamily="49" charset="0"/>
              </a:rPr>
              <a:t>    [e | id in set S &amp; P]</a:t>
            </a:r>
          </a:p>
          <a:p>
            <a:pPr>
              <a:buNone/>
            </a:pPr>
            <a:r>
              <a:rPr lang="en-US" sz="2400" dirty="0">
                <a:latin typeface="Courier New" pitchFamily="49" charset="0"/>
              </a:rPr>
              <a:t>	</a:t>
            </a:r>
          </a:p>
          <a:p>
            <a:pPr>
              <a:buNone/>
            </a:pPr>
            <a:r>
              <a:rPr lang="en-US" sz="2400" dirty="0"/>
              <a:t>Examples</a:t>
            </a:r>
          </a:p>
          <a:p>
            <a:pPr>
              <a:buNone/>
            </a:pPr>
            <a:r>
              <a:rPr lang="en-US" sz="2400" dirty="0">
                <a:latin typeface="Courier New" pitchFamily="49" charset="0"/>
              </a:rPr>
              <a:t>	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  [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|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 set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{1,2,4,6}]</a:t>
            </a: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(ii) [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|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Courier New" pitchFamily="49" charset="0"/>
                <a:cs typeface="Courier New" panose="02070309020205020404" pitchFamily="49" charset="0"/>
              </a:rPr>
              <a:t>in set</a:t>
            </a:r>
            <a:r>
              <a:rPr lang="en-US" sz="2000" dirty="0">
                <a:latin typeface="Courier New" pitchFamily="49" charset="0"/>
                <a:cs typeface="Courier New" panose="02070309020205020404" pitchFamily="49" charset="0"/>
              </a:rPr>
              <a:t> {6,3,2,7} &amp; </a:t>
            </a:r>
            <a:r>
              <a:rPr lang="en-US" sz="2000" dirty="0" err="1">
                <a:latin typeface="Courier New" pitchFamily="49" charset="0"/>
                <a:cs typeface="Courier New" panose="02070309020205020404" pitchFamily="49" charset="0"/>
              </a:rPr>
              <a:t>i</a:t>
            </a:r>
            <a:r>
              <a:rPr lang="en-US" sz="2000" dirty="0">
                <a:latin typeface="Courier New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Courier New" pitchFamily="49" charset="0"/>
                <a:cs typeface="Courier New" panose="02070309020205020404" pitchFamily="49" charset="0"/>
              </a:rPr>
              <a:t>mod</a:t>
            </a:r>
            <a:r>
              <a:rPr lang="en-US" sz="2000" dirty="0">
                <a:latin typeface="Courier New" pitchFamily="49" charset="0"/>
                <a:cs typeface="Courier New" panose="02070309020205020404" pitchFamily="49" charset="0"/>
              </a:rPr>
              <a:t> 2 = 0]</a:t>
            </a:r>
          </a:p>
          <a:p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TMA3093 FM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797D14-C1D9-459E-B99C-12FC798145F5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0166"/>
    </mc:Choice>
    <mc:Fallback xmlns="">
      <p:transition spd="slow" advTm="110166"/>
    </mc:Fallback>
  </mc:AlternateContent>
  <p:timing>
    <p:tnLst>
      <p:par>
        <p:cTn id="1" dur="indefinite" restart="never" nodeType="tmRoot"/>
      </p:par>
    </p:tnLst>
  </p:timing>
  <p:extLst mod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subsequence of a sequence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TMA3093 FM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797D14-C1D9-459E-B99C-12FC798145F5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913613" y="1421814"/>
            <a:ext cx="7391400" cy="4585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A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subsequence of a sequence L</a:t>
            </a:r>
            <a:r>
              <a:rPr lang="en-US" dirty="0">
                <a:latin typeface="Arial" pitchFamily="34" charset="0"/>
                <a:cs typeface="Arial" pitchFamily="34" charset="0"/>
              </a:rPr>
              <a:t> is a sequence formed from consecutive elements of L;                  from index n1 up to and including index n2.                         It has the form:</a:t>
            </a: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      L(n1, ..., n2)</a:t>
            </a: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where n1 and n2 are positive integer expressions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dirty="0"/>
              <a:t>Example, subsequence expression:</a:t>
            </a:r>
          </a:p>
          <a:p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[1, 23, 45, 67](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3) will 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yield 45</a:t>
            </a:r>
            <a:endParaRPr lang="en-US" sz="2000" dirty="0">
              <a:latin typeface="Courier New" pitchFamily="49" charset="0"/>
              <a:cs typeface="Courier New" pitchFamily="49" charset="0"/>
            </a:endParaRPr>
          </a:p>
          <a:p>
            <a:endParaRPr lang="en-US" sz="20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[“ma”, “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m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e”, “mu”](1)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will 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yield 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“ma”</a:t>
            </a:r>
            <a:endParaRPr lang="en-US" sz="2000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2000" dirty="0">
                <a:latin typeface="Courier New" pitchFamily="49" charset="0"/>
                <a:cs typeface="Courier New" pitchFamily="49" charset="0"/>
              </a:rPr>
              <a:t/>
            </a:r>
            <a:br>
              <a:rPr lang="en-US" sz="2000" dirty="0">
                <a:latin typeface="Courier New" pitchFamily="49" charset="0"/>
                <a:cs typeface="Courier New" pitchFamily="49" charset="0"/>
              </a:rPr>
            </a:b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[4,5,8,9,12,10](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2,...,4) = ?</a:t>
            </a:r>
          </a:p>
        </p:txBody>
      </p:sp>
    </p:spTree>
    <p:extLst>
      <p:ext uri="{BB962C8B-B14F-4D97-AF65-F5344CB8AC3E}">
        <p14:creationId xmlns:p14="http://schemas.microsoft.com/office/powerpoint/2010/main" val="3746076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4140"/>
    </mc:Choice>
    <mc:Fallback xmlns="">
      <p:transition spd="slow" advTm="94140"/>
    </mc:Fallback>
  </mc:AlternateContent>
  <p:timing>
    <p:tnLst>
      <p:par>
        <p:cTn id="1" dur="indefinite" restart="never" nodeType="tmRoot"/>
      </p:par>
    </p:tnLst>
  </p:timing>
  <p:extLst mod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TMA3093 FM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797D14-C1D9-459E-B99C-12FC798145F5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300882"/>
            <a:ext cx="5486400" cy="5328518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59617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1B76C-7DE3-45A9-BC10-E9DB7FD36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TMA3093 FM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8D7513-FAC8-47C5-8F01-0C47D7CB2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797D14-C1D9-459E-B99C-12FC798145F5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34DF779-6FCB-4948-90E9-E0172B7669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3000" y="76200"/>
            <a:ext cx="7772400" cy="1066800"/>
          </a:xfrm>
        </p:spPr>
        <p:txBody>
          <a:bodyPr/>
          <a:lstStyle/>
          <a:p>
            <a:r>
              <a:rPr lang="en-US" dirty="0"/>
              <a:t>Map Expressions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7BE69F6-D02F-44C9-BCBB-8462F749AE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019" y="1219200"/>
            <a:ext cx="7827962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400" kern="0" dirty="0"/>
              <a:t>Map enumeration has the form:</a:t>
            </a:r>
          </a:p>
          <a:p>
            <a:pPr>
              <a:buFontTx/>
              <a:buNone/>
            </a:pPr>
            <a:r>
              <a:rPr lang="pt-BR" sz="2000" kern="0" dirty="0">
                <a:latin typeface="Courier New" pitchFamily="49" charset="0"/>
                <a:cs typeface="Courier New" pitchFamily="49" charset="0"/>
              </a:rPr>
              <a:t>    {d1 |-&gt; r1, d2 |-&gt; r2, ..., dn |-&gt; rn}</a:t>
            </a:r>
          </a:p>
          <a:p>
            <a:pPr>
              <a:buFontTx/>
              <a:buNone/>
            </a:pPr>
            <a:r>
              <a:rPr lang="en-US" sz="2400" kern="0" dirty="0"/>
              <a:t>   where all the domain expressions </a:t>
            </a:r>
            <a:r>
              <a:rPr lang="en-US" sz="2400" kern="0" dirty="0">
                <a:latin typeface="Courier New" pitchFamily="49" charset="0"/>
                <a:cs typeface="Courier New" pitchFamily="49" charset="0"/>
              </a:rPr>
              <a:t>d</a:t>
            </a:r>
            <a:r>
              <a:rPr lang="en-US" sz="2400" kern="0" baseline="-25000" dirty="0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400" kern="0" dirty="0"/>
              <a:t> and range expressions </a:t>
            </a:r>
            <a:r>
              <a:rPr lang="en-US" sz="2400" kern="0" dirty="0" err="1">
                <a:latin typeface="Courier New" pitchFamily="49" charset="0"/>
                <a:cs typeface="Courier New" pitchFamily="49" charset="0"/>
              </a:rPr>
              <a:t>r</a:t>
            </a:r>
            <a:r>
              <a:rPr lang="en-US" sz="2400" kern="0" baseline="-250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400" kern="0" dirty="0"/>
              <a:t> are general expressions. </a:t>
            </a:r>
          </a:p>
          <a:p>
            <a:pPr>
              <a:buFontTx/>
              <a:buNone/>
            </a:pPr>
            <a:r>
              <a:rPr lang="en-US" sz="2400" kern="0" dirty="0"/>
              <a:t>   The empty map must be written as </a:t>
            </a:r>
            <a:r>
              <a:rPr lang="en-US" sz="2400" kern="0" dirty="0">
                <a:latin typeface="Courier New" pitchFamily="49" charset="0"/>
                <a:cs typeface="Courier New" pitchFamily="49" charset="0"/>
              </a:rPr>
              <a:t>{|-&gt;}.</a:t>
            </a:r>
            <a:r>
              <a:rPr lang="en-US" sz="2400" kern="0" dirty="0"/>
              <a:t/>
            </a:r>
            <a:br>
              <a:rPr lang="en-US" sz="2400" kern="0" dirty="0"/>
            </a:br>
            <a:r>
              <a:rPr lang="en-US" sz="2400" kern="0" dirty="0"/>
              <a:t>Map examples</a:t>
            </a:r>
            <a:r>
              <a:rPr lang="en-US" sz="2400" kern="0" dirty="0">
                <a:latin typeface="Courier New" pitchFamily="49" charset="0"/>
              </a:rPr>
              <a:t> </a:t>
            </a:r>
            <a:r>
              <a:rPr lang="en-US" sz="2000" kern="0" dirty="0">
                <a:latin typeface="Courier New" pitchFamily="49" charset="0"/>
              </a:rPr>
              <a:t>{1|</a:t>
            </a:r>
            <a:r>
              <a:rPr lang="pt-BR" sz="2000" kern="0" dirty="0">
                <a:latin typeface="Courier New" pitchFamily="49" charset="0"/>
                <a:cs typeface="Courier New" pitchFamily="49" charset="0"/>
              </a:rPr>
              <a:t>-&gt;</a:t>
            </a:r>
            <a:r>
              <a:rPr lang="en-US" sz="2000" b="1" kern="0" dirty="0">
                <a:latin typeface="Courier New" pitchFamily="49" charset="0"/>
              </a:rPr>
              <a:t>true</a:t>
            </a:r>
            <a:r>
              <a:rPr lang="en-US" sz="2000" kern="0" dirty="0">
                <a:latin typeface="Courier New" pitchFamily="49" charset="0"/>
              </a:rPr>
              <a:t>, 7</a:t>
            </a:r>
            <a:r>
              <a:rPr lang="en-US" sz="2000" kern="0" dirty="0">
                <a:latin typeface="Courier New" pitchFamily="49" charset="0"/>
                <a:sym typeface="Zed"/>
              </a:rPr>
              <a:t> |</a:t>
            </a:r>
            <a:r>
              <a:rPr lang="pt-BR" sz="2000" kern="0" dirty="0">
                <a:latin typeface="Courier New" pitchFamily="49" charset="0"/>
                <a:cs typeface="Courier New" pitchFamily="49" charset="0"/>
              </a:rPr>
              <a:t>-&gt;</a:t>
            </a:r>
            <a:r>
              <a:rPr lang="en-US" sz="2000" kern="0" dirty="0">
                <a:latin typeface="Courier New" pitchFamily="49" charset="0"/>
                <a:sym typeface="Zed"/>
              </a:rPr>
              <a:t> </a:t>
            </a:r>
            <a:r>
              <a:rPr lang="en-US" sz="2000" kern="0" dirty="0">
                <a:latin typeface="Courier New" pitchFamily="49" charset="0"/>
              </a:rPr>
              <a:t>6</a:t>
            </a:r>
            <a:r>
              <a:rPr lang="en-US" sz="2000" kern="0" dirty="0" smtClean="0">
                <a:latin typeface="Courier New" pitchFamily="49" charset="0"/>
              </a:rPr>
              <a:t>}.</a:t>
            </a:r>
          </a:p>
          <a:p>
            <a:pPr>
              <a:buFontTx/>
              <a:buNone/>
            </a:pPr>
            <a:endParaRPr lang="en-US" sz="2000" kern="0" dirty="0">
              <a:latin typeface="Courier New" pitchFamily="49" charset="0"/>
            </a:endParaRPr>
          </a:p>
          <a:p>
            <a:r>
              <a:rPr lang="en-US" sz="2400" kern="0" dirty="0"/>
              <a:t>A map comprehension has the form:</a:t>
            </a:r>
          </a:p>
          <a:p>
            <a:pPr>
              <a:buFontTx/>
              <a:buNone/>
            </a:pPr>
            <a:r>
              <a:rPr lang="en-US" sz="2400" kern="0" dirty="0"/>
              <a:t>     </a:t>
            </a:r>
            <a:r>
              <a:rPr lang="en-US" sz="2000" kern="0" dirty="0">
                <a:latin typeface="Courier New" pitchFamily="49" charset="0"/>
                <a:cs typeface="Courier New" pitchFamily="49" charset="0"/>
              </a:rPr>
              <a:t>{e</a:t>
            </a:r>
            <a:r>
              <a:rPr lang="en-US" sz="2000" kern="0" baseline="-25000" dirty="0">
                <a:latin typeface="Courier New" pitchFamily="49" charset="0"/>
                <a:cs typeface="Courier New" pitchFamily="49" charset="0"/>
              </a:rPr>
              <a:t>d</a:t>
            </a:r>
            <a:r>
              <a:rPr lang="en-US" sz="2000" kern="0" dirty="0">
                <a:latin typeface="Courier New" pitchFamily="49" charset="0"/>
                <a:cs typeface="Courier New" pitchFamily="49" charset="0"/>
              </a:rPr>
              <a:t> |-&gt; </a:t>
            </a:r>
            <a:r>
              <a:rPr lang="en-US" sz="2000" kern="0" dirty="0" err="1">
                <a:latin typeface="Courier New" pitchFamily="49" charset="0"/>
                <a:cs typeface="Courier New" pitchFamily="49" charset="0"/>
              </a:rPr>
              <a:t>e</a:t>
            </a:r>
            <a:r>
              <a:rPr lang="en-US" sz="2000" kern="0" baseline="-25000" dirty="0" err="1">
                <a:latin typeface="Courier New" pitchFamily="49" charset="0"/>
                <a:cs typeface="Courier New" pitchFamily="49" charset="0"/>
              </a:rPr>
              <a:t>r</a:t>
            </a:r>
            <a:r>
              <a:rPr lang="en-US" sz="2000" kern="0" dirty="0">
                <a:latin typeface="Courier New" pitchFamily="49" charset="0"/>
                <a:cs typeface="Courier New" pitchFamily="49" charset="0"/>
              </a:rPr>
              <a:t> | mbd</a:t>
            </a:r>
            <a:r>
              <a:rPr lang="en-US" sz="2000" kern="0" baseline="-25000" dirty="0"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000" kern="0" dirty="0">
                <a:latin typeface="Courier New" pitchFamily="49" charset="0"/>
                <a:cs typeface="Courier New" pitchFamily="49" charset="0"/>
              </a:rPr>
              <a:t>, ..., </a:t>
            </a:r>
            <a:r>
              <a:rPr lang="en-US" sz="2000" kern="0" dirty="0" err="1">
                <a:latin typeface="Courier New" pitchFamily="49" charset="0"/>
                <a:cs typeface="Courier New" pitchFamily="49" charset="0"/>
              </a:rPr>
              <a:t>mbd</a:t>
            </a:r>
            <a:r>
              <a:rPr lang="en-US" sz="2000" kern="0" baseline="-25000" dirty="0" err="1">
                <a:latin typeface="Courier New" pitchFamily="49" charset="0"/>
                <a:cs typeface="Courier New" pitchFamily="49" charset="0"/>
              </a:rPr>
              <a:t>n</a:t>
            </a:r>
            <a:r>
              <a:rPr lang="en-US" sz="2000" kern="0" dirty="0">
                <a:latin typeface="Courier New" pitchFamily="49" charset="0"/>
                <a:cs typeface="Courier New" pitchFamily="49" charset="0"/>
              </a:rPr>
              <a:t> &amp; P}</a:t>
            </a:r>
          </a:p>
          <a:p>
            <a:pPr>
              <a:buFontTx/>
              <a:buNone/>
            </a:pPr>
            <a:r>
              <a:rPr lang="en-US" sz="2400" kern="0" dirty="0"/>
              <a:t>   The map comprehension constructs a mapping by evaluating the expressions </a:t>
            </a:r>
            <a:r>
              <a:rPr lang="en-US" sz="2400" kern="0" dirty="0">
                <a:latin typeface="Courier New" pitchFamily="49" charset="0"/>
                <a:cs typeface="Courier New" pitchFamily="49" charset="0"/>
              </a:rPr>
              <a:t>e</a:t>
            </a:r>
            <a:r>
              <a:rPr lang="en-US" sz="2400" kern="0" baseline="-25000" dirty="0">
                <a:latin typeface="Courier New" pitchFamily="49" charset="0"/>
                <a:cs typeface="Courier New" pitchFamily="49" charset="0"/>
              </a:rPr>
              <a:t>d</a:t>
            </a:r>
            <a:r>
              <a:rPr lang="en-US" sz="2400" kern="0" dirty="0"/>
              <a:t> and </a:t>
            </a:r>
            <a:r>
              <a:rPr lang="en-US" sz="2400" kern="0" dirty="0" err="1">
                <a:latin typeface="Courier New" pitchFamily="49" charset="0"/>
                <a:cs typeface="Courier New" pitchFamily="49" charset="0"/>
              </a:rPr>
              <a:t>e</a:t>
            </a:r>
            <a:r>
              <a:rPr lang="en-US" sz="2400" kern="0" baseline="-25000" dirty="0" err="1">
                <a:latin typeface="Courier New" pitchFamily="49" charset="0"/>
                <a:cs typeface="Courier New" pitchFamily="49" charset="0"/>
              </a:rPr>
              <a:t>r</a:t>
            </a:r>
            <a:r>
              <a:rPr lang="en-US" sz="2400" kern="0" dirty="0"/>
              <a:t> on all the possible bindings (</a:t>
            </a:r>
            <a:r>
              <a:rPr lang="en-US" sz="2400" kern="0" dirty="0">
                <a:latin typeface="Courier New" pitchFamily="49" charset="0"/>
                <a:cs typeface="Courier New" pitchFamily="49" charset="0"/>
              </a:rPr>
              <a:t>mbd</a:t>
            </a:r>
            <a:r>
              <a:rPr lang="en-US" sz="2400" kern="0" baseline="-25000" dirty="0">
                <a:latin typeface="Courier New" pitchFamily="49" charset="0"/>
                <a:cs typeface="Courier New" pitchFamily="49" charset="0"/>
              </a:rPr>
              <a:t>1</a:t>
            </a:r>
            <a:r>
              <a:rPr lang="en-US" sz="2400" kern="0" dirty="0">
                <a:latin typeface="Courier New" pitchFamily="49" charset="0"/>
                <a:cs typeface="Courier New" pitchFamily="49" charset="0"/>
              </a:rPr>
              <a:t>, mbd</a:t>
            </a:r>
            <a:r>
              <a:rPr lang="en-US" sz="2400" kern="0" baseline="-25000" dirty="0">
                <a:latin typeface="Courier New" pitchFamily="49" charset="0"/>
                <a:cs typeface="Courier New" pitchFamily="49" charset="0"/>
              </a:rPr>
              <a:t>2</a:t>
            </a:r>
            <a:r>
              <a:rPr lang="en-US" sz="2400" kern="0" dirty="0"/>
              <a:t>) for which the predicate </a:t>
            </a:r>
            <a:r>
              <a:rPr lang="en-US" sz="2400" kern="0" dirty="0">
                <a:latin typeface="Courier New" pitchFamily="49" charset="0"/>
                <a:cs typeface="Courier New" pitchFamily="49" charset="0"/>
              </a:rPr>
              <a:t>P</a:t>
            </a:r>
            <a:r>
              <a:rPr lang="en-US" sz="2400" kern="0" dirty="0"/>
              <a:t> evaluates to true.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5BE0BAB-3C36-4D2C-8D6D-F3C41623F319}"/>
              </a:ext>
            </a:extLst>
          </p:cNvPr>
          <p:cNvSpPr/>
          <p:nvPr/>
        </p:nvSpPr>
        <p:spPr bwMode="auto">
          <a:xfrm>
            <a:off x="6029227" y="1600200"/>
            <a:ext cx="609600" cy="457200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MY" sz="2400" b="0" i="0" u="none" strike="noStrike" cap="none" normalizeH="0" baseline="0">
              <a:ln>
                <a:noFill/>
              </a:ln>
              <a:noFill/>
              <a:effectLst/>
              <a:latin typeface="Times New Roman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EADB5AD-7FA1-4797-A5E8-8C3C8BCC7956}"/>
              </a:ext>
            </a:extLst>
          </p:cNvPr>
          <p:cNvCxnSpPr>
            <a:stCxn id="8" idx="0"/>
          </p:cNvCxnSpPr>
          <p:nvPr/>
        </p:nvCxnSpPr>
        <p:spPr bwMode="auto">
          <a:xfrm flipV="1">
            <a:off x="6334027" y="1295400"/>
            <a:ext cx="1171673" cy="3048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30A52A0-6F08-4E32-B55B-7EBC002CEC72}"/>
              </a:ext>
            </a:extLst>
          </p:cNvPr>
          <p:cNvSpPr txBox="1"/>
          <p:nvPr/>
        </p:nvSpPr>
        <p:spPr>
          <a:xfrm flipH="1">
            <a:off x="7505700" y="1277034"/>
            <a:ext cx="1097281" cy="646331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Mapping symbol</a:t>
            </a:r>
            <a:endParaRPr lang="en-MY" sz="1800" dirty="0"/>
          </a:p>
        </p:txBody>
      </p:sp>
    </p:spTree>
    <p:extLst>
      <p:ext uri="{BB962C8B-B14F-4D97-AF65-F5344CB8AC3E}">
        <p14:creationId xmlns:p14="http://schemas.microsoft.com/office/powerpoint/2010/main" val="1891855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8707"/>
    </mc:Choice>
    <mc:Fallback xmlns="">
      <p:transition spd="slow" advTm="58707"/>
    </mc:Fallback>
  </mc:AlternateContent>
  <p:timing>
    <p:tnLst>
      <p:par>
        <p:cTn id="1" dur="indefinite" restart="never" nodeType="tmRoot"/>
      </p:par>
    </p:tnLst>
  </p:timing>
  <p:extLst mod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409700"/>
            <a:ext cx="7772400" cy="4724400"/>
          </a:xfrm>
        </p:spPr>
        <p:txBody>
          <a:bodyPr/>
          <a:lstStyle/>
          <a:p>
            <a:r>
              <a:rPr lang="en-US" sz="2400" dirty="0"/>
              <a:t>Map comprehension can either use type binding: </a:t>
            </a:r>
            <a:br>
              <a:rPr lang="en-US" sz="2400" dirty="0"/>
            </a:br>
            <a:r>
              <a:rPr lang="en-US" sz="2400" dirty="0">
                <a:latin typeface="Courier New" pitchFamily="49" charset="0"/>
              </a:rPr>
              <a:t>  </a:t>
            </a:r>
            <a:r>
              <a:rPr lang="en-US" sz="2000" dirty="0">
                <a:latin typeface="Courier New" pitchFamily="49" charset="0"/>
              </a:rPr>
              <a:t>{</a:t>
            </a:r>
            <a:r>
              <a:rPr lang="en-US" sz="2000" dirty="0" err="1">
                <a:latin typeface="Courier New" pitchFamily="49" charset="0"/>
              </a:rPr>
              <a:t>i</a:t>
            </a:r>
            <a:r>
              <a:rPr lang="en-US" sz="2000" dirty="0">
                <a:latin typeface="Courier New" pitchFamily="49" charset="0"/>
                <a:sym typeface="Zed"/>
              </a:rPr>
              <a:t> |-&gt; </a:t>
            </a:r>
            <a:r>
              <a:rPr lang="en-US" sz="2000" b="1" dirty="0" err="1">
                <a:latin typeface="Courier New" pitchFamily="49" charset="0"/>
              </a:rPr>
              <a:t>mk</a:t>
            </a:r>
            <a:r>
              <a:rPr lang="en-US" sz="2000" dirty="0">
                <a:latin typeface="Courier New" pitchFamily="49" charset="0"/>
              </a:rPr>
              <a:t>_(</a:t>
            </a:r>
            <a:r>
              <a:rPr lang="en-US" sz="2000" dirty="0" err="1">
                <a:latin typeface="Courier New" pitchFamily="49" charset="0"/>
              </a:rPr>
              <a:t>i,</a:t>
            </a:r>
            <a:r>
              <a:rPr lang="en-US" sz="2000" b="1" dirty="0" err="1">
                <a:latin typeface="Courier New" pitchFamily="49" charset="0"/>
              </a:rPr>
              <a:t>true</a:t>
            </a:r>
            <a:r>
              <a:rPr lang="en-US" sz="2000" dirty="0">
                <a:latin typeface="Courier New" pitchFamily="49" charset="0"/>
              </a:rPr>
              <a:t>) | i: </a:t>
            </a:r>
            <a:r>
              <a:rPr lang="en-US" sz="2000" b="1" dirty="0">
                <a:latin typeface="Courier New" pitchFamily="49" charset="0"/>
              </a:rPr>
              <a:t>bool</a:t>
            </a:r>
            <a:r>
              <a:rPr lang="en-US" sz="2000" dirty="0">
                <a:latin typeface="Courier New" pitchFamily="49" charset="0"/>
              </a:rPr>
              <a:t>}</a:t>
            </a:r>
            <a:endParaRPr lang="en-US" sz="2000" dirty="0"/>
          </a:p>
          <a:p>
            <a:pPr>
              <a:buFontTx/>
              <a:buNone/>
            </a:pPr>
            <a:r>
              <a:rPr lang="en-US" sz="2400" dirty="0"/>
              <a:t>	or set binding:</a:t>
            </a:r>
            <a:br>
              <a:rPr lang="en-US" sz="2400" dirty="0"/>
            </a:br>
            <a:r>
              <a:rPr lang="en-US" sz="2000" dirty="0">
                <a:latin typeface="Courier New" pitchFamily="49" charset="0"/>
              </a:rPr>
              <a:t>  {</a:t>
            </a:r>
            <a:r>
              <a:rPr lang="en-US" sz="2000" dirty="0" err="1">
                <a:latin typeface="Courier New" pitchFamily="49" charset="0"/>
              </a:rPr>
              <a:t>a+b</a:t>
            </a:r>
            <a:r>
              <a:rPr lang="en-US" sz="2000" dirty="0">
                <a:latin typeface="Courier New" pitchFamily="49" charset="0"/>
                <a:sym typeface="Zed"/>
              </a:rPr>
              <a:t> |-&gt; </a:t>
            </a:r>
            <a:r>
              <a:rPr lang="en-US" sz="2000" dirty="0">
                <a:latin typeface="Courier New" pitchFamily="49" charset="0"/>
              </a:rPr>
              <a:t>b-a | a </a:t>
            </a:r>
            <a:r>
              <a:rPr lang="en-US" sz="2000" b="1" dirty="0">
                <a:latin typeface="Courier New" pitchFamily="49" charset="0"/>
              </a:rPr>
              <a:t>in set</a:t>
            </a:r>
            <a:r>
              <a:rPr lang="en-US" sz="2000" dirty="0">
                <a:latin typeface="Courier New" pitchFamily="49" charset="0"/>
              </a:rPr>
              <a:t> {1,2}, </a:t>
            </a:r>
            <a:br>
              <a:rPr lang="en-US" sz="2000" dirty="0">
                <a:latin typeface="Courier New" pitchFamily="49" charset="0"/>
              </a:rPr>
            </a:br>
            <a:r>
              <a:rPr lang="en-US" sz="2000" dirty="0">
                <a:latin typeface="Courier New" pitchFamily="49" charset="0"/>
              </a:rPr>
              <a:t>                 b </a:t>
            </a:r>
            <a:r>
              <a:rPr lang="en-US" sz="2000" b="1" dirty="0">
                <a:latin typeface="Courier New" pitchFamily="49" charset="0"/>
              </a:rPr>
              <a:t>in set</a:t>
            </a:r>
            <a:r>
              <a:rPr lang="en-US" sz="2000" dirty="0">
                <a:latin typeface="Courier New" pitchFamily="49" charset="0"/>
              </a:rPr>
              <a:t> {3,6}}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400" dirty="0"/>
              <a:t>and</a:t>
            </a:r>
            <a:br>
              <a:rPr lang="en-US" sz="2400" dirty="0"/>
            </a:br>
            <a:r>
              <a:rPr lang="en-US" sz="2400" dirty="0">
                <a:latin typeface="Courier New" pitchFamily="49" charset="0"/>
              </a:rPr>
              <a:t>  </a:t>
            </a:r>
            <a:r>
              <a:rPr lang="en-US" sz="2000" dirty="0">
                <a:latin typeface="Courier New" pitchFamily="49" charset="0"/>
              </a:rPr>
              <a:t>{</a:t>
            </a:r>
            <a:r>
              <a:rPr lang="en-US" sz="2000" dirty="0" err="1">
                <a:latin typeface="Courier New" pitchFamily="49" charset="0"/>
              </a:rPr>
              <a:t>i</a:t>
            </a:r>
            <a:r>
              <a:rPr lang="en-US" sz="2000" dirty="0">
                <a:latin typeface="Courier New" pitchFamily="49" charset="0"/>
                <a:sym typeface="Zed"/>
              </a:rPr>
              <a:t> |-&gt; </a:t>
            </a:r>
            <a:r>
              <a:rPr lang="en-US" sz="2000" dirty="0" err="1">
                <a:latin typeface="Courier New" pitchFamily="49" charset="0"/>
              </a:rPr>
              <a:t>i</a:t>
            </a:r>
            <a:r>
              <a:rPr lang="en-US" sz="2000" dirty="0">
                <a:latin typeface="Courier New" pitchFamily="49" charset="0"/>
              </a:rPr>
              <a:t> | </a:t>
            </a:r>
            <a:r>
              <a:rPr lang="en-US" sz="2000" dirty="0" err="1">
                <a:latin typeface="Courier New" pitchFamily="49" charset="0"/>
              </a:rPr>
              <a:t>i</a:t>
            </a:r>
            <a:r>
              <a:rPr lang="en-US" sz="2000" dirty="0">
                <a:latin typeface="Courier New" pitchFamily="49" charset="0"/>
              </a:rPr>
              <a:t> </a:t>
            </a:r>
            <a:r>
              <a:rPr lang="en-US" sz="2000" b="1" dirty="0">
                <a:latin typeface="Courier New" pitchFamily="49" charset="0"/>
              </a:rPr>
              <a:t>in set</a:t>
            </a:r>
            <a:r>
              <a:rPr lang="en-US" sz="2000" dirty="0">
                <a:latin typeface="Courier New" pitchFamily="49" charset="0"/>
              </a:rPr>
              <a:t> {1,...,10} &amp;</a:t>
            </a:r>
            <a:br>
              <a:rPr lang="en-US" sz="2000" dirty="0">
                <a:latin typeface="Courier New" pitchFamily="49" charset="0"/>
              </a:rPr>
            </a:br>
            <a:r>
              <a:rPr lang="en-US" sz="2000" dirty="0">
                <a:latin typeface="Courier New" pitchFamily="49" charset="0"/>
              </a:rPr>
              <a:t>                    </a:t>
            </a:r>
            <a:r>
              <a:rPr lang="en-US" sz="2000" dirty="0" err="1">
                <a:latin typeface="Courier New" pitchFamily="49" charset="0"/>
              </a:rPr>
              <a:t>i</a:t>
            </a:r>
            <a:r>
              <a:rPr lang="en-US" sz="2000" dirty="0">
                <a:latin typeface="Courier New" pitchFamily="49" charset="0"/>
              </a:rPr>
              <a:t> </a:t>
            </a:r>
            <a:r>
              <a:rPr lang="en-US" sz="2000" b="1" dirty="0">
                <a:latin typeface="Courier New" pitchFamily="49" charset="0"/>
              </a:rPr>
              <a:t>mod</a:t>
            </a:r>
            <a:r>
              <a:rPr lang="en-US" sz="2000" dirty="0">
                <a:latin typeface="Courier New" pitchFamily="49" charset="0"/>
              </a:rPr>
              <a:t> 3 = 0}</a:t>
            </a:r>
          </a:p>
          <a:p>
            <a:pPr>
              <a:buFontTx/>
              <a:buNone/>
            </a:pP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One must be careful to ensure that 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every domain </a:t>
            </a:r>
            <a:r>
              <a:rPr lang="en-US" sz="2400" dirty="0"/>
              <a:t>element maps uniquely to 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one range </a:t>
            </a:r>
            <a:r>
              <a:rPr lang="en-US" sz="2400" dirty="0"/>
              <a:t>element</a:t>
            </a:r>
            <a:r>
              <a:rPr lang="en-US" sz="2400" i="1" dirty="0"/>
              <a:t>.</a:t>
            </a:r>
            <a:endParaRPr lang="en-US" sz="2400" dirty="0">
              <a:latin typeface="Courier New" pitchFamily="49" charset="0"/>
            </a:endParaRP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e.g., {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StudentName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|-&gt;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StudentID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TMA3093 FM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797D14-C1D9-459E-B99C-12FC798145F5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8390"/>
    </mc:Choice>
    <mc:Fallback xmlns="">
      <p:transition spd="slow" advTm="108390"/>
    </mc:Fallback>
  </mc:AlternateContent>
  <p:timing>
    <p:tnLst>
      <p:par>
        <p:cTn id="1" dur="indefinite" restart="never" nodeType="tmRoot"/>
      </p:par>
    </p:tnLst>
  </p:timing>
  <p:extLst mod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</a:t>
            </a:r>
            <a:endParaRPr lang="en-GB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TMA3093 FM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797D14-C1D9-459E-B99C-12FC798145F5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295400"/>
            <a:ext cx="7187253" cy="502920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990685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163207-F0A1-40D8-BA8D-7548C06AF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TMA3093 FM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2CC64C-0E31-4C00-8191-805231B6C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8FE867-98BB-4CB2-A05C-F545B7D7B4D4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43EA006-277D-444D-BAF0-17D234BA25C4}"/>
              </a:ext>
            </a:extLst>
          </p:cNvPr>
          <p:cNvSpPr txBox="1">
            <a:spLocks noChangeArrowheads="1"/>
          </p:cNvSpPr>
          <p:nvPr/>
        </p:nvSpPr>
        <p:spPr>
          <a:xfrm>
            <a:off x="1143000" y="161041"/>
            <a:ext cx="7772400" cy="10668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2228B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2228B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2228B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2228B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2228B"/>
                </a:solidFill>
                <a:latin typeface="Arial" charset="0"/>
                <a:cs typeface="Arial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en-US" kern="0"/>
              <a:t>Tuple Expressions</a:t>
            </a:r>
            <a:endParaRPr lang="en-US" kern="0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90FA4C8-DE8A-483E-BBDF-AB14C4DA3F1F}"/>
              </a:ext>
            </a:extLst>
          </p:cNvPr>
          <p:cNvSpPr txBox="1">
            <a:spLocks noChangeArrowheads="1"/>
          </p:cNvSpPr>
          <p:nvPr/>
        </p:nvSpPr>
        <p:spPr>
          <a:xfrm>
            <a:off x="665163" y="1529466"/>
            <a:ext cx="7850187" cy="517613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400" kern="0" dirty="0"/>
              <a:t>The </a:t>
            </a:r>
            <a:r>
              <a:rPr lang="en-US" sz="2400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tuple constructor </a:t>
            </a:r>
            <a:r>
              <a:rPr lang="en-US" sz="2400" kern="0" dirty="0"/>
              <a:t>expression has the form:</a:t>
            </a:r>
          </a:p>
          <a:p>
            <a:pPr>
              <a:buFontTx/>
              <a:buNone/>
            </a:pPr>
            <a:r>
              <a:rPr lang="en-US" sz="2400" kern="0" dirty="0">
                <a:latin typeface="Courier New" pitchFamily="49" charset="0"/>
                <a:cs typeface="Courier New" pitchFamily="49" charset="0"/>
              </a:rPr>
              <a:t>  	</a:t>
            </a:r>
            <a:r>
              <a:rPr lang="en-US" sz="2400" kern="0" dirty="0" err="1">
                <a:latin typeface="Courier New" pitchFamily="49" charset="0"/>
                <a:cs typeface="Courier New" pitchFamily="49" charset="0"/>
              </a:rPr>
              <a:t>mk</a:t>
            </a:r>
            <a:r>
              <a:rPr lang="en-US" sz="2400" kern="0" dirty="0">
                <a:latin typeface="Courier New" pitchFamily="49" charset="0"/>
                <a:cs typeface="Courier New" pitchFamily="49" charset="0"/>
              </a:rPr>
              <a:t>_(e1, e2, ..., </a:t>
            </a:r>
            <a:r>
              <a:rPr lang="en-US" sz="2400" kern="0" dirty="0" err="1">
                <a:latin typeface="Courier New" pitchFamily="49" charset="0"/>
                <a:cs typeface="Courier New" pitchFamily="49" charset="0"/>
              </a:rPr>
              <a:t>en</a:t>
            </a:r>
            <a:r>
              <a:rPr lang="en-US" sz="2400" kern="0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FontTx/>
              <a:buNone/>
            </a:pPr>
            <a:r>
              <a:rPr lang="en-US" sz="2400" kern="0" dirty="0"/>
              <a:t>    where </a:t>
            </a:r>
            <a:r>
              <a:rPr lang="en-US" sz="2400" kern="0" dirty="0" err="1">
                <a:latin typeface="Courier New" pitchFamily="49" charset="0"/>
                <a:cs typeface="Courier New" pitchFamily="49" charset="0"/>
              </a:rPr>
              <a:t>e</a:t>
            </a:r>
            <a:r>
              <a:rPr lang="en-US" sz="2400" kern="0" baseline="-250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400" kern="0" dirty="0"/>
              <a:t> is a general expression.</a:t>
            </a:r>
          </a:p>
          <a:p>
            <a:pPr>
              <a:buFontTx/>
              <a:buNone/>
            </a:pPr>
            <a:endParaRPr lang="en-US" sz="2400" kern="0" dirty="0"/>
          </a:p>
          <a:p>
            <a:r>
              <a:rPr lang="en-US" sz="2400" kern="0" dirty="0" smtClean="0"/>
              <a:t>Example</a:t>
            </a:r>
          </a:p>
          <a:p>
            <a:pPr marL="0" indent="0">
              <a:buNone/>
            </a:pPr>
            <a:r>
              <a:rPr lang="en-US" sz="2400" kern="0" dirty="0" smtClean="0"/>
              <a:t>      </a:t>
            </a:r>
            <a:r>
              <a:rPr lang="en-US" sz="20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mk_Coordinate</a:t>
            </a:r>
            <a:r>
              <a:rPr lang="en-US" sz="20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sz="2000" kern="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x,y,z</a:t>
            </a:r>
            <a:r>
              <a:rPr lang="en-US" sz="2000" kern="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2400" kern="0" dirty="0"/>
              <a:t/>
            </a:r>
            <a:br>
              <a:rPr lang="en-US" sz="2400" kern="0" dirty="0"/>
            </a:br>
            <a:r>
              <a:rPr lang="en-US" sz="2400" kern="0" dirty="0" smtClean="0">
                <a:latin typeface="Courier New" pitchFamily="49" charset="0"/>
              </a:rPr>
              <a:t>  </a:t>
            </a:r>
            <a:endParaRPr lang="en-US" sz="2400" kern="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8398" y="3048000"/>
            <a:ext cx="3742202" cy="3674161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45602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480"/>
    </mc:Choice>
    <mc:Fallback xmlns="">
      <p:transition spd="slow" advTm="20480"/>
    </mc:Fallback>
  </mc:AlternateContent>
  <p:timing>
    <p:tnLst>
      <p:par>
        <p:cTn id="1" dur="indefinite" restart="never" nodeType="tmRoot"/>
      </p:par>
    </p:tnLst>
  </p:timing>
  <p:extLst mod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31F623-B203-4CEA-A6E3-A6C6E8224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TMA3093 FM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72D973-1694-40BA-BC11-EA9663B37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8FE867-98BB-4CB2-A05C-F545B7D7B4D4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3A634D0-FE0C-4FAE-88F0-64233E17E3EF}"/>
              </a:ext>
            </a:extLst>
          </p:cNvPr>
          <p:cNvSpPr txBox="1">
            <a:spLocks noChangeArrowheads="1"/>
          </p:cNvSpPr>
          <p:nvPr/>
        </p:nvSpPr>
        <p:spPr>
          <a:xfrm>
            <a:off x="1125963" y="76200"/>
            <a:ext cx="7772400" cy="1066800"/>
          </a:xfrm>
          <a:prstGeom prst="rect">
            <a:avLst/>
          </a:prstGeom>
        </p:spPr>
        <p:txBody>
          <a:bodyPr lIns="82058" tIns="41029" rIns="82058" bIns="41029"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2228B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2228B"/>
                </a:solidFill>
                <a:latin typeface="Arial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2228B"/>
                </a:solidFill>
                <a:latin typeface="Arial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2228B"/>
                </a:solidFill>
                <a:latin typeface="Arial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22228B"/>
                </a:solidFill>
                <a:latin typeface="Arial" charset="0"/>
                <a:cs typeface="Arial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en-US" kern="0"/>
              <a:t>Summary Expressions </a:t>
            </a:r>
            <a:br>
              <a:rPr lang="en-US" kern="0"/>
            </a:br>
            <a:r>
              <a:rPr lang="en-US" kern="0"/>
              <a:t>(Part 1)</a:t>
            </a:r>
            <a:endParaRPr lang="en-US" kern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0DEB07-9C8F-4F0A-88CA-EE702E1CC8B6}"/>
              </a:ext>
            </a:extLst>
          </p:cNvPr>
          <p:cNvSpPr txBox="1">
            <a:spLocks noChangeArrowheads="1"/>
          </p:cNvSpPr>
          <p:nvPr/>
        </p:nvSpPr>
        <p:spPr>
          <a:xfrm>
            <a:off x="677159" y="1226400"/>
            <a:ext cx="7340878" cy="5326800"/>
          </a:xfrm>
          <a:prstGeom prst="rect">
            <a:avLst/>
          </a:prstGeom>
          <a:ln w="12700">
            <a:noFill/>
          </a:ln>
        </p:spPr>
        <p:txBody>
          <a:bodyPr lIns="82058" tIns="41029" rIns="82058" bIns="41029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Tx/>
              <a:buNone/>
            </a:pPr>
            <a:r>
              <a:rPr lang="en-MY" sz="2000" kern="0" dirty="0"/>
              <a:t>The VDM++ syntax and semantics and some examples related to the following expressions had been explained:</a:t>
            </a:r>
          </a:p>
          <a:p>
            <a:pPr marL="0" indent="0">
              <a:buFontTx/>
              <a:buNone/>
            </a:pPr>
            <a:endParaRPr lang="en-US" sz="2000" kern="0" dirty="0"/>
          </a:p>
          <a:p>
            <a:pPr marL="0" indent="0">
              <a:buFontTx/>
              <a:buNone/>
            </a:pPr>
            <a:endParaRPr lang="en-US" sz="2000" kern="0" dirty="0"/>
          </a:p>
          <a:p>
            <a:pPr marL="0" indent="0">
              <a:buFontTx/>
              <a:buNone/>
            </a:pPr>
            <a:endParaRPr lang="en-US" sz="2000" kern="0" dirty="0"/>
          </a:p>
          <a:p>
            <a:pPr marL="0" indent="0">
              <a:buFontTx/>
              <a:buNone/>
            </a:pPr>
            <a:endParaRPr lang="en-US" sz="2000" kern="0" dirty="0"/>
          </a:p>
          <a:p>
            <a:pPr marL="0" indent="0">
              <a:buFontTx/>
              <a:buNone/>
            </a:pPr>
            <a:endParaRPr lang="en-US" sz="2000" kern="0" dirty="0"/>
          </a:p>
          <a:p>
            <a:pPr marL="0" indent="0">
              <a:buFontTx/>
              <a:buNone/>
            </a:pPr>
            <a:endParaRPr lang="en-US" sz="2000" kern="0" dirty="0"/>
          </a:p>
          <a:p>
            <a:pPr marL="0" indent="0">
              <a:buFontTx/>
              <a:buNone/>
            </a:pPr>
            <a:endParaRPr lang="en-US" sz="2000" kern="0" dirty="0"/>
          </a:p>
          <a:p>
            <a:pPr marL="0" indent="0">
              <a:buFontTx/>
              <a:buNone/>
            </a:pPr>
            <a:endParaRPr lang="en-US" sz="2000" kern="0" dirty="0"/>
          </a:p>
          <a:p>
            <a:pPr marL="0" indent="0">
              <a:buFontTx/>
              <a:buNone/>
            </a:pPr>
            <a:endParaRPr lang="en-US" sz="2000" kern="0" dirty="0"/>
          </a:p>
          <a:p>
            <a:pPr marL="0" indent="0">
              <a:buFontTx/>
              <a:buNone/>
            </a:pPr>
            <a:endParaRPr lang="en-US" sz="2000" kern="0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3B6C50D-C0F6-4A96-98B7-FBF6AA5530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7963" y="1970988"/>
            <a:ext cx="4114800" cy="368522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82058" tIns="41029" rIns="82058" bIns="41029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/>
            <a:r>
              <a:rPr lang="en-US" sz="2200" kern="0" dirty="0">
                <a:latin typeface="Courier New" pitchFamily="49" charset="0"/>
                <a:cs typeface="Courier New" pitchFamily="49" charset="0"/>
              </a:rPr>
              <a:t>let</a:t>
            </a:r>
            <a:r>
              <a:rPr lang="en-US" sz="2200" kern="0" dirty="0"/>
              <a:t> and </a:t>
            </a:r>
            <a:r>
              <a:rPr lang="en-US" sz="2200" kern="0" dirty="0">
                <a:latin typeface="Courier New" pitchFamily="49" charset="0"/>
                <a:cs typeface="Courier New" pitchFamily="49" charset="0"/>
              </a:rPr>
              <a:t>let-be</a:t>
            </a:r>
            <a:r>
              <a:rPr lang="en-US" sz="2200" kern="0" dirty="0"/>
              <a:t> expressions</a:t>
            </a:r>
          </a:p>
          <a:p>
            <a:pPr marL="0" indent="0"/>
            <a:r>
              <a:rPr lang="en-US" sz="2200" kern="0" dirty="0">
                <a:latin typeface="Courier New" pitchFamily="49" charset="0"/>
                <a:cs typeface="Courier New" pitchFamily="49" charset="0"/>
              </a:rPr>
              <a:t>define</a:t>
            </a:r>
            <a:r>
              <a:rPr lang="en-US" sz="2200" kern="0" dirty="0"/>
              <a:t> expressions</a:t>
            </a:r>
          </a:p>
          <a:p>
            <a:pPr marL="0" indent="0"/>
            <a:r>
              <a:rPr lang="en-US" sz="2200" kern="0" dirty="0">
                <a:latin typeface="Courier New" pitchFamily="49" charset="0"/>
                <a:cs typeface="Courier New" pitchFamily="49" charset="0"/>
              </a:rPr>
              <a:t>if-then-else</a:t>
            </a:r>
            <a:r>
              <a:rPr lang="en-US" sz="2200" kern="0" dirty="0"/>
              <a:t> expressions</a:t>
            </a:r>
          </a:p>
          <a:p>
            <a:pPr marL="0" indent="0"/>
            <a:r>
              <a:rPr lang="en-US" sz="2200" kern="0" dirty="0">
                <a:latin typeface="Courier New" pitchFamily="49" charset="0"/>
                <a:cs typeface="Courier New" pitchFamily="49" charset="0"/>
              </a:rPr>
              <a:t>cases</a:t>
            </a:r>
            <a:r>
              <a:rPr lang="en-US" sz="2200" kern="0" dirty="0"/>
              <a:t> expressions</a:t>
            </a:r>
          </a:p>
          <a:p>
            <a:pPr marL="0" indent="0"/>
            <a:r>
              <a:rPr lang="en-US" sz="2200" kern="0" dirty="0"/>
              <a:t>Quantified expressions</a:t>
            </a:r>
          </a:p>
          <a:p>
            <a:pPr marL="0" indent="0"/>
            <a:r>
              <a:rPr lang="en-US" sz="2200" kern="0" dirty="0"/>
              <a:t>Set expressions</a:t>
            </a:r>
          </a:p>
          <a:p>
            <a:pPr marL="0" indent="0"/>
            <a:r>
              <a:rPr lang="en-US" sz="2200" kern="0" dirty="0"/>
              <a:t>Sequence expressions</a:t>
            </a:r>
          </a:p>
          <a:p>
            <a:pPr marL="0" indent="0"/>
            <a:r>
              <a:rPr lang="en-US" sz="2200" kern="0" dirty="0"/>
              <a:t>Map expressions </a:t>
            </a:r>
          </a:p>
          <a:p>
            <a:pPr marL="0" indent="0"/>
            <a:r>
              <a:rPr lang="en-US" sz="2200" kern="0" dirty="0"/>
              <a:t>Tuple expressions</a:t>
            </a:r>
          </a:p>
        </p:txBody>
      </p:sp>
    </p:spTree>
    <p:extLst>
      <p:ext uri="{BB962C8B-B14F-4D97-AF65-F5344CB8AC3E}">
        <p14:creationId xmlns:p14="http://schemas.microsoft.com/office/powerpoint/2010/main" val="448920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744"/>
    </mc:Choice>
    <mc:Fallback xmlns="">
      <p:transition spd="slow" advTm="13744"/>
    </mc:Fallback>
  </mc:AlternateContent>
  <p:timing>
    <p:tnLst>
      <p:par>
        <p:cTn id="1" dur="indefinite" restart="never" nodeType="tmRoot"/>
      </p:par>
    </p:tnLst>
  </p:timing>
  <p:extLst mod="1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409700"/>
            <a:ext cx="4800600" cy="47244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If you have any question(s)/comment(s)/ suggestion(s), please email to me at </a:t>
            </a:r>
            <a:r>
              <a:rPr lang="en-US" dirty="0">
                <a:hlinkClick r:id="rId2"/>
              </a:rPr>
              <a:t>edwin@unimas.my</a:t>
            </a:r>
            <a:r>
              <a:rPr lang="en-US" dirty="0"/>
              <a:t> or post in </a:t>
            </a:r>
            <a:r>
              <a:rPr lang="en-US" dirty="0" err="1"/>
              <a:t>eLEAP</a:t>
            </a:r>
            <a:r>
              <a:rPr lang="en-US" dirty="0"/>
              <a:t> forum.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TMA3093 FM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797D14-C1D9-459E-B99C-12FC798145F5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012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714"/>
    </mc:Choice>
    <mc:Fallback xmlns="">
      <p:transition spd="slow" advTm="12714"/>
    </mc:Fallback>
  </mc:AlternateContent>
  <p:timing>
    <p:tnLst>
      <p:par>
        <p:cTn id="1" dur="indefinite" restart="never" nodeType="tmRoot"/>
      </p:par>
    </p:tnLst>
  </p:timing>
  <p:extLst mod="1"/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4354</TotalTime>
  <Words>1603</Words>
  <Application>Microsoft Office PowerPoint</Application>
  <PresentationFormat>On-screen Show (4:3)</PresentationFormat>
  <Paragraphs>418</Paragraphs>
  <Slides>35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35</vt:i4>
      </vt:variant>
    </vt:vector>
  </HeadingPairs>
  <TitlesOfParts>
    <vt:vector size="43" baseType="lpstr">
      <vt:lpstr>Arial</vt:lpstr>
      <vt:lpstr>Calibri</vt:lpstr>
      <vt:lpstr>Courier New</vt:lpstr>
      <vt:lpstr>Symbol</vt:lpstr>
      <vt:lpstr>Times New Roman</vt:lpstr>
      <vt:lpstr>Zed</vt:lpstr>
      <vt:lpstr>Default Design</vt:lpstr>
      <vt:lpstr>Custom Design</vt:lpstr>
      <vt:lpstr>TMA3093 Formal Methods</vt:lpstr>
      <vt:lpstr>VDM++ Class Outline</vt:lpstr>
      <vt:lpstr>Agenda</vt:lpstr>
      <vt:lpstr>Introduction</vt:lpstr>
      <vt:lpstr>Expressions  (Part 1)</vt:lpstr>
      <vt:lpstr>Let and Def Expressions</vt:lpstr>
      <vt:lpstr>Let Expression: Syntax</vt:lpstr>
      <vt:lpstr>Let Expression: Semantics</vt:lpstr>
      <vt:lpstr>Example Let Expressions</vt:lpstr>
      <vt:lpstr>Example: Calculate Salary</vt:lpstr>
      <vt:lpstr>Example : Search Location</vt:lpstr>
      <vt:lpstr>Example : Football Score</vt:lpstr>
      <vt:lpstr>let-be expression </vt:lpstr>
      <vt:lpstr>Example  Let-be expressions</vt:lpstr>
      <vt:lpstr>Define Expressions</vt:lpstr>
      <vt:lpstr>Define Expression</vt:lpstr>
      <vt:lpstr>Define Expressions</vt:lpstr>
      <vt:lpstr>Conditional Expressions  Syntax</vt:lpstr>
      <vt:lpstr>Semantics</vt:lpstr>
      <vt:lpstr>If expressions Example</vt:lpstr>
      <vt:lpstr>PowerPoint Presentation</vt:lpstr>
      <vt:lpstr>cases expression</vt:lpstr>
      <vt:lpstr>Example</vt:lpstr>
      <vt:lpstr>Cases Expressions</vt:lpstr>
      <vt:lpstr>Set Expressions</vt:lpstr>
      <vt:lpstr>Example</vt:lpstr>
      <vt:lpstr>Sequence Expression</vt:lpstr>
      <vt:lpstr>subsequence of a sequence</vt:lpstr>
      <vt:lpstr>Example</vt:lpstr>
      <vt:lpstr>Map Expressions</vt:lpstr>
      <vt:lpstr>PowerPoint Presentation</vt:lpstr>
      <vt:lpstr>Example</vt:lpstr>
      <vt:lpstr>PowerPoint Presentation</vt:lpstr>
      <vt:lpstr>PowerPoint Presentation</vt:lpstr>
      <vt:lpstr>Thanks</vt:lpstr>
    </vt:vector>
  </TitlesOfParts>
  <Company>UNIMAS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Integration of OO and FM</dc:title>
  <dc:creator>Edwin</dc:creator>
  <cp:lastModifiedBy>Edwin ak Mit</cp:lastModifiedBy>
  <cp:revision>644</cp:revision>
  <dcterms:created xsi:type="dcterms:W3CDTF">2007-06-14T03:26:09Z</dcterms:created>
  <dcterms:modified xsi:type="dcterms:W3CDTF">2024-11-29T05:56:47Z</dcterms:modified>
</cp:coreProperties>
</file>